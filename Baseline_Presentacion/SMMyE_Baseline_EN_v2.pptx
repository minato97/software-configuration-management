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image" Target="../media/image-8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4572000" cy="4572000"/>
          </a:xfrm>
          <a:prstGeom prst="ellipse">
            <a:avLst/>
          </a:prstGeom>
          <a:solidFill>
            <a:srgbClr val="10281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0281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5" name="Image 0" descr="C:\Users\Nacho Andrade\Desktop\Maestria en Ingeniería de Software\Tercer semestre\Configuracion del software\Baseline_Presentacion\icons\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78455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594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SMMyE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488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and Soil Monitoring System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Región Valles, Jalisco, Mexico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480560"/>
            <a:ext cx="10543032" cy="18288"/>
          </a:xfrm>
          <a:prstGeom prst="rect">
            <a:avLst/>
          </a:prstGeom>
          <a:solidFill>
            <a:srgbClr val="2F513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47091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Configuration Management — Graduate Program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074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Baseline v1.0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Andrade Salazar — Project Manager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28,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828800"/>
            <a:ext cx="10543032" cy="1280160"/>
          </a:xfrm>
          <a:prstGeom prst="roundRect">
            <a:avLst>
              <a:gd name="adj" fmla="val 8571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2304288"/>
            <a:ext cx="329184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19659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Región Valles lacks continuous, publicly accessible environmental and soil data.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429000"/>
            <a:ext cx="10543032" cy="1280160"/>
          </a:xfrm>
          <a:prstGeom prst="roundRect">
            <a:avLst>
              <a:gd name="adj" fmla="val 8571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97280" y="3904488"/>
            <a:ext cx="329184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97280" y="3904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691640" y="35661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Farmers, researchers and local authorities need real-time insight they can actually understand — not raw sensor logs.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" y="5029200"/>
            <a:ext cx="10543032" cy="1280160"/>
          </a:xfrm>
          <a:prstGeom prst="roundRect">
            <a:avLst>
              <a:gd name="adj" fmla="val 8571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97280" y="5504688"/>
            <a:ext cx="329184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97280" y="5504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691640" y="51663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IoT monitoring platforms expose data, but rarely explain it in plain language.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37360"/>
            <a:ext cx="10543032" cy="155448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9728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1945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evaluate a web platform that integrates an AI agent (via MCP + LLM) to make the technical data produced by SMMyE's IoT nodes accessible and understandable to users of every technical level in the Región Valles.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3931920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5F7F5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128" y="4265676"/>
            <a:ext cx="292608" cy="29260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24128" y="42656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4005072"/>
            <a:ext cx="4251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functional &amp; non-functional requirements (SRS)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91072" y="3931920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5F7F5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2240" y="4265676"/>
            <a:ext cx="292608" cy="29260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92240" y="42656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931152" y="4005072"/>
            <a:ext cx="4251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scalable, secure system architecture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5148072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5F7F5"/>
          </a:solidFill>
          <a:ln/>
        </p:spPr>
      </p:sp>
      <p:sp>
        <p:nvSpPr>
          <p:cNvPr id="19" name="Shape 16"/>
          <p:cNvSpPr/>
          <p:nvPr/>
        </p:nvSpPr>
        <p:spPr>
          <a:xfrm>
            <a:off x="1024128" y="5481828"/>
            <a:ext cx="292608" cy="29260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24128" y="54818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221224"/>
            <a:ext cx="4251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REST API, web platform and MCP server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91072" y="5148072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5F7F5"/>
          </a:solidFill>
          <a:ln/>
        </p:spPr>
      </p:sp>
      <p:sp>
        <p:nvSpPr>
          <p:cNvPr id="23" name="Shape 20"/>
          <p:cNvSpPr/>
          <p:nvPr/>
        </p:nvSpPr>
        <p:spPr>
          <a:xfrm>
            <a:off x="6492240" y="5481828"/>
            <a:ext cx="292608" cy="29260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92240" y="54818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931152" y="5221224"/>
            <a:ext cx="4251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usability with real users (target SUS score ≥ 70)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5074920" cy="4617720"/>
          </a:xfrm>
          <a:prstGeom prst="roundRect">
            <a:avLst>
              <a:gd name="adj" fmla="val 2376"/>
            </a:avLst>
          </a:prstGeom>
          <a:solidFill>
            <a:srgbClr val="EAF4EC"/>
          </a:solidFill>
          <a:ln/>
        </p:spPr>
      </p:sp>
      <p:sp>
        <p:nvSpPr>
          <p:cNvPr id="7" name="Shape 4"/>
          <p:cNvSpPr/>
          <p:nvPr/>
        </p:nvSpPr>
        <p:spPr>
          <a:xfrm>
            <a:off x="1051560" y="201168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8" name="Image 1" descr="C:\Users\Nacho Andrade\Desktop\Maestria en Ingeniería de Software\Tercer semestre\Configuracion del software\Baseline_Presentacion\icons\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" y="2072030"/>
            <a:ext cx="382219" cy="38221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075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2743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data reception &amp; storage from IoT nodes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3429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visualization: tables, cards, charts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41148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Station, sensor &amp; user administration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051560" y="48006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chat assistant — EcoFlow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051560" y="54864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deployment on CUValles nodes, Región Valles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91072" y="1783080"/>
            <a:ext cx="5074920" cy="4617720"/>
          </a:xfrm>
          <a:prstGeom prst="roundRect">
            <a:avLst>
              <a:gd name="adj" fmla="val 2376"/>
            </a:avLst>
          </a:prstGeom>
          <a:solidFill>
            <a:srgbClr val="F3EBE4"/>
          </a:solidFill>
          <a:ln/>
        </p:spPr>
      </p:sp>
      <p:sp>
        <p:nvSpPr>
          <p:cNvPr id="16" name="Shape 12"/>
          <p:cNvSpPr/>
          <p:nvPr/>
        </p:nvSpPr>
        <p:spPr>
          <a:xfrm>
            <a:off x="6519672" y="2011680"/>
            <a:ext cx="502920" cy="502920"/>
          </a:xfrm>
          <a:prstGeom prst="ellipse">
            <a:avLst/>
          </a:prstGeom>
          <a:solidFill>
            <a:srgbClr val="F5F7F5"/>
          </a:solidFill>
          <a:ln/>
        </p:spPr>
      </p:sp>
      <p:pic>
        <p:nvPicPr>
          <p:cNvPr id="17" name="Image 2" descr="C:\Users\Nacho Andrade\Desktop\Maestria en Ingeniería de Software\Tercer semestre\Configuracion del software\Baseline_Presentacion\icons\tim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2" y="2072030"/>
            <a:ext cx="382219" cy="38221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59752" y="2075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55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/ Limitations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519672" y="2743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device control or actuation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519672" y="3429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sensor calibration / hardware config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519672" y="41148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or forecasting (future work)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519672" y="48006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external notifications (email/SMS)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6519672" y="54864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/ redundancy (single server)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decoupled layers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1691640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8" name="Shape 5"/>
          <p:cNvSpPr/>
          <p:nvPr/>
        </p:nvSpPr>
        <p:spPr>
          <a:xfrm>
            <a:off x="1024128" y="1837944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9" name="Image 1" descr="C:\Users\Nacho Andrade\Desktop\Maestria en Ingeniería de Software\Tercer semestre\Configuracion del software\Baseline_Presentacion\icons\raspberryp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5" y="1903781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28800" y="1783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Acquisition (IoT)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5212080" y="178308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nodes with environmental &amp; soil sensors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2660904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2F5D45"/>
          </a:solidFill>
          <a:ln/>
        </p:spPr>
      </p:sp>
      <p:sp>
        <p:nvSpPr>
          <p:cNvPr id="13" name="Shape 9"/>
          <p:cNvSpPr/>
          <p:nvPr/>
        </p:nvSpPr>
        <p:spPr>
          <a:xfrm>
            <a:off x="1024128" y="2807208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4" name="Image 2" descr="C:\Users\Nacho Andrade\Desktop\Maestria en Ingeniería de Software\Tercer semestre\Configuracion del software\Baseline_Presentacion\icons\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5" y="2873045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828800" y="27523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Business Logic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5212080" y="275234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10 REST API with JWT authentication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2960" y="3630168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18" name="Shape 13"/>
          <p:cNvSpPr/>
          <p:nvPr/>
        </p:nvSpPr>
        <p:spPr>
          <a:xfrm>
            <a:off x="1024128" y="3776472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9" name="Image 3" descr="C:\Users\Nacho Andrade\Desktop\Maestria en Ingeniería de Software\Tercer semestre\Configuracion del software\Baseline_Presentacion\icons\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5" y="3842309"/>
            <a:ext cx="416966" cy="41696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828800" y="372160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Data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37216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— relational storage of all system data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22960" y="4599432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2F5D45"/>
          </a:solidFill>
          <a:ln/>
        </p:spPr>
      </p:sp>
      <p:sp>
        <p:nvSpPr>
          <p:cNvPr id="23" name="Shape 17"/>
          <p:cNvSpPr/>
          <p:nvPr/>
        </p:nvSpPr>
        <p:spPr>
          <a:xfrm>
            <a:off x="1024128" y="4745736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24" name="Image 4" descr="C:\Users\Nacho Andrade\Desktop\Maestria en Ingeniería de Software\Tercer semestre\Configuracion del software\Baseline_Presentacion\icons\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965" y="4811573"/>
            <a:ext cx="416966" cy="41696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828800" y="46908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Presentation (SPA)</a:t>
            </a:r>
            <a:endParaRPr lang="en-US" sz="1450" dirty="0"/>
          </a:p>
        </p:txBody>
      </p:sp>
      <p:sp>
        <p:nvSpPr>
          <p:cNvPr id="26" name="Text 19"/>
          <p:cNvSpPr txBox="1"/>
          <p:nvPr/>
        </p:nvSpPr>
        <p:spPr>
          <a:xfrm>
            <a:off x="5212080" y="469087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— monitoring, stats, admin &amp; reports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822960" y="5568696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28" name="Shape 21"/>
          <p:cNvSpPr/>
          <p:nvPr/>
        </p:nvSpPr>
        <p:spPr>
          <a:xfrm>
            <a:off x="1024128" y="5715000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29" name="Image 5" descr="C:\Users\Nacho Andrade\Desktop\Maestria en Ingeniería de Software\Tercer semestre\Configuracion del software\Baseline_Presentacion\icons\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965" y="5780837"/>
            <a:ext cx="416966" cy="41696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828800" y="56601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Conversational AI</a:t>
            </a:r>
            <a:endParaRPr lang="en-US" sz="1450" dirty="0"/>
          </a:p>
        </p:txBody>
      </p:sp>
      <p:sp>
        <p:nvSpPr>
          <p:cNvPr id="31" name="Text 23"/>
          <p:cNvSpPr txBox="1"/>
          <p:nvPr/>
        </p:nvSpPr>
        <p:spPr>
          <a:xfrm>
            <a:off x="5212080" y="566013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MCP server + Ollama (local LLM)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raspberry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Sensor Network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provided &amp; installed by CUValles — replicable to other regions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874520"/>
            <a:ext cx="3310128" cy="4114800"/>
          </a:xfrm>
          <a:prstGeom prst="roundRect">
            <a:avLst>
              <a:gd name="adj" fmla="val 3867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20824" y="224028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9" name="Image 1" descr="C:\Users\Nacho Andrade\Desktop\Maestria en Ingeniería de Software\Tercer semestre\Configuracion del software\Baseline_Presentacion\icons\wi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52" y="2350008"/>
            <a:ext cx="694944" cy="6949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3383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&amp; Climate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4023360"/>
            <a:ext cx="2670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Humidity · Pressure · CO₂ · Particulate matter · Rainfall · Wind speed &amp; direction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434840" y="1874520"/>
            <a:ext cx="3310128" cy="4114800"/>
          </a:xfrm>
          <a:prstGeom prst="roundRect">
            <a:avLst>
              <a:gd name="adj" fmla="val 3867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32704" y="224028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4" name="Image 2" descr="C:\Users\Nacho Andrade\Desktop\Maestria en Ingeniería de Software\Tercer semestre\Configuracion del software\Baseline_Presentacion\icons\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2350008"/>
            <a:ext cx="694944" cy="6949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17720" y="3383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Radiation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754880" y="4023360"/>
            <a:ext cx="2670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radiation · Light intensity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46720" y="1874520"/>
            <a:ext cx="3310128" cy="4114800"/>
          </a:xfrm>
          <a:prstGeom prst="roundRect">
            <a:avLst>
              <a:gd name="adj" fmla="val 3867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244584" y="224028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9" name="Image 3" descr="C:\Users\Nacho Andrade\Desktop\Maestria en Ingeniería de Software\Tercer semestre\Configuracion del software\Baseline_Presentacion\icons\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2350008"/>
            <a:ext cx="694944" cy="6949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29600" y="3383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(Edaphological)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366760" y="4023360"/>
            <a:ext cx="2670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(N) · Phosphorus (P) · Potassium (K)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tool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F5F7F5"/>
          </a:solidFill>
          <a:ln/>
        </p:spPr>
      </p:sp>
      <p:sp>
        <p:nvSpPr>
          <p:cNvPr id="7" name="Shape 4"/>
          <p:cNvSpPr/>
          <p:nvPr/>
        </p:nvSpPr>
        <p:spPr>
          <a:xfrm>
            <a:off x="1005840" y="1915668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8" name="Image 1" descr="C:\Users\Nacho Andrade\Desktop\Maestria en Ingeniería de Software\Tercer semestre\Configuracion del software\Baseline_Presentacion\icons\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88" y="1977116"/>
            <a:ext cx="389169" cy="38916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1856232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1856232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 + Laravel 10, JWT auth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2706624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EAF0EA"/>
          </a:solidFill>
          <a:ln/>
        </p:spPr>
      </p:sp>
      <p:sp>
        <p:nvSpPr>
          <p:cNvPr id="12" name="Shape 8"/>
          <p:cNvSpPr/>
          <p:nvPr/>
        </p:nvSpPr>
        <p:spPr>
          <a:xfrm>
            <a:off x="1005840" y="2839212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3" name="Image 2" descr="C:\Users\Nacho Andrade\Desktop\Maestria en Ingeniería de Software\Tercer semestre\Configuracion del software\Baseline_Presentacion\icons\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288" y="2900660"/>
            <a:ext cx="389169" cy="38916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2779776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754880" y="2779776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3630168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F5F7F5"/>
          </a:solidFill>
          <a:ln/>
        </p:spPr>
      </p:sp>
      <p:sp>
        <p:nvSpPr>
          <p:cNvPr id="17" name="Shape 12"/>
          <p:cNvSpPr/>
          <p:nvPr/>
        </p:nvSpPr>
        <p:spPr>
          <a:xfrm>
            <a:off x="1005840" y="3762756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3" descr="C:\Users\Nacho Andrade\Desktop\Maestria en Ingeniería de Software\Tercer semestre\Configuracion del software\Baseline_Presentacion\icons\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288" y="3824204"/>
            <a:ext cx="389169" cy="38916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83080" y="3703320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4754880" y="3703320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+ Pinia + Tailwind CSS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22960" y="4553712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EAF0EA"/>
          </a:solidFill>
          <a:ln/>
        </p:spPr>
      </p:sp>
      <p:sp>
        <p:nvSpPr>
          <p:cNvPr id="22" name="Shape 16"/>
          <p:cNvSpPr/>
          <p:nvPr/>
        </p:nvSpPr>
        <p:spPr>
          <a:xfrm>
            <a:off x="1005840" y="4686300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3" name="Image 4" descr="C:\Users\Nacho Andrade\Desktop\Maestria en Ingeniería de Software\Tercer semestre\Configuracion del software\Baseline_Presentacion\icons\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8" y="4747748"/>
            <a:ext cx="389169" cy="38916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83080" y="4626864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Chat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4754880" y="4626864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orchestrator + MCP server + Ollama (local LLM)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822960" y="5477256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F5F7F5"/>
          </a:solidFill>
          <a:ln/>
        </p:spPr>
      </p:sp>
      <p:sp>
        <p:nvSpPr>
          <p:cNvPr id="27" name="Shape 20"/>
          <p:cNvSpPr/>
          <p:nvPr/>
        </p:nvSpPr>
        <p:spPr>
          <a:xfrm>
            <a:off x="1005840" y="5609844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8" name="Image 5" descr="C:\Users\Nacho Andrade\Desktop\Maestria en Ingeniería de Software\Tercer semestre\Configuracion del software\Baseline_Presentacion\icons\netwo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288" y="5671292"/>
            <a:ext cx="389169" cy="389169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783080" y="5550408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4754880" y="5550408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 + Nginx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3" name="Image 0" descr="C:\Users\Nacho Andrade\Desktop\Maestria en Ingeniería de Software\Tercer semestre\Configuracion del software\Baseline_Presentacion\icons\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384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EcoFlow — The Conversational Assistant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91640" y="2880360"/>
            <a:ext cx="8805672" cy="0"/>
          </a:xfrm>
          <a:prstGeom prst="line">
            <a:avLst/>
          </a:prstGeom>
          <a:noFill/>
          <a:ln w="25400">
            <a:solidFill>
              <a:srgbClr val="95D5B2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1188720" y="2377440"/>
            <a:ext cx="1005840" cy="10058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7" name="Image 1" descr="C:\Users\Nacho Andrade\Desktop\Maestria en Ingeniería de Software\Tercer semestre\Configuracion del software\Baseline_Presentacion\icons\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421" y="2498141"/>
            <a:ext cx="764438" cy="7644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390138" y="2377440"/>
            <a:ext cx="1005840" cy="1005840"/>
          </a:xfrm>
          <a:prstGeom prst="ellipse">
            <a:avLst/>
          </a:prstGeom>
          <a:solidFill>
            <a:srgbClr val="2F5D45"/>
          </a:solidFill>
          <a:ln/>
        </p:spPr>
      </p:sp>
      <p:pic>
        <p:nvPicPr>
          <p:cNvPr id="10" name="Image 2" descr="C:\Users\Nacho Andrade\Desktop\Maestria en Ingeniería de Software\Tercer semestre\Configuracion del software\Baseline_Presentacion\icons\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839" y="2498141"/>
            <a:ext cx="764438" cy="7644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887218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591556" y="2377440"/>
            <a:ext cx="1005840" cy="10058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3" name="Image 3" descr="C:\Users\Nacho Andrade\Desktop\Maestria en Ingeniería de Software\Tercer semestre\Configuracion del software\Baseline_Presentacion\icons\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257" y="2498141"/>
            <a:ext cx="764438" cy="76443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088636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tool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7792974" y="2377440"/>
            <a:ext cx="1005840" cy="1005840"/>
          </a:xfrm>
          <a:prstGeom prst="ellipse">
            <a:avLst/>
          </a:prstGeom>
          <a:solidFill>
            <a:srgbClr val="2F5D45"/>
          </a:solidFill>
          <a:ln/>
        </p:spPr>
      </p:sp>
      <p:pic>
        <p:nvPicPr>
          <p:cNvPr id="16" name="Image 4" descr="C:\Users\Nacho Andrade\Desktop\Maestria en Ingeniería de Software\Tercer semestre\Configuracion del software\Baseline_Presentacion\icons\toolbo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3675" y="2498141"/>
            <a:ext cx="764438" cy="76443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290054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data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9994392" y="2377440"/>
            <a:ext cx="1005840" cy="10058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9" name="Image 5" descr="C:\Users\Nacho Andrade\Desktop\Maestria en Ingeniería de Software\Tercer semestre\Configuracion del software\Baseline_Presentacion\icons\comme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5093" y="2498141"/>
            <a:ext cx="764438" cy="76443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491472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1280160" y="5212080"/>
            <a:ext cx="9628632" cy="822960"/>
          </a:xfrm>
          <a:prstGeom prst="roundRect">
            <a:avLst>
              <a:gd name="adj" fmla="val 11111"/>
            </a:avLst>
          </a:prstGeom>
          <a:solidFill>
            <a:srgbClr val="10281E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1554480" y="5212080"/>
            <a:ext cx="9079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touches the database directly — every query goes through read-only MCP tools.</a:t>
            </a:r>
            <a:endParaRPr lang="en-US" sz="1250" dirty="0"/>
          </a:p>
        </p:txBody>
      </p:sp>
      <p:sp>
        <p:nvSpPr>
          <p:cNvPr id="23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user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defined for this course exercise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67206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9" name="Image 1" descr="C:\Users\Nacho Andrade\Desktop\Maestria en Ingeniería de Software\Tercer semestre\Configuracion del software\Baseline_Presentacion\icons\usert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988" y="2300630"/>
            <a:ext cx="555955" cy="55595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6112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Ignacio Andrade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932688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/ SCM Lead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607564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51810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4" name="Image 2" descr="C:\Users\Nacho Andrade\Desktop\Maestria en Ingeniería de Software\Tercer semestre\Configuracion del software\Baseline_Presentacion\icons\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592" y="2300630"/>
            <a:ext cx="555955" cy="55595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680716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Developer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2717292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&amp; data layer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392168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36414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9" name="Image 3" descr="C:\Users\Nacho Andrade\Desktop\Maestria en Ingeniería de Software\Tercer semestre\Configuracion del software\Baseline_Presentacion\icons\laptop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196" y="2300630"/>
            <a:ext cx="555955" cy="55595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465320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Developer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4501896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SPA implementation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176772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621018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4" name="Image 4" descr="C:\Users\Nacho Andrade\Desktop\Maestria en Ingeniería de Software\Tercer semestre\Configuracion del software\Baseline_Presentacion\icons\paintbru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800" y="2300630"/>
            <a:ext cx="555955" cy="55595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249924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/ UX Designer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6286500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&amp; design system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7961376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405622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9" name="Image 5" descr="C:\Users\Nacho Andrade\Desktop\Maestria en Ingeniería de Software\Tercer semestre\Configuracion del software\Baseline_Presentacion\icons\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3404" y="2300630"/>
            <a:ext cx="555955" cy="55595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034528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Automation Engineer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8071104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n8n, MCP, Ollama, RAG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9745980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10190226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4" name="Image 6" descr="C:\Users\Nacho Andrade\Desktop\Maestria en Ingeniería de Software\Tercer semestre\Configuracion del software\Baseline_Presentacion\icons\toolbo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8008" y="2300630"/>
            <a:ext cx="555955" cy="55595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819132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/ QA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9855708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deploy, tests, audits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project plan, with built-in contingency buffer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525089" y="2468880"/>
            <a:ext cx="9138775" cy="0"/>
          </a:xfrm>
          <a:prstGeom prst="line">
            <a:avLst/>
          </a:prstGeom>
          <a:noFill/>
          <a:ln w="25400">
            <a:solidFill>
              <a:srgbClr val="CBD9C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9913" y="2103120"/>
            <a:ext cx="530352" cy="530352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59913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3EBE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77824" y="3035808"/>
            <a:ext cx="12945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5102352"/>
            <a:ext cx="1294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83042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83042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346089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400953" y="3035808"/>
            <a:ext cx="12945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Plan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 ID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2400953" y="5102352"/>
            <a:ext cx="1294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06171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306171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3869218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924082" y="3035808"/>
            <a:ext cx="12945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UX/UI Design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3924082" y="5102352"/>
            <a:ext cx="1294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3–4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829300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82930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392347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447211" y="3035808"/>
            <a:ext cx="12945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47211" y="5102352"/>
            <a:ext cx="1294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5–8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352429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352429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915477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970341" y="3035808"/>
            <a:ext cx="12945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 Audit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970341" y="5102352"/>
            <a:ext cx="1294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9–10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875558" y="2103120"/>
            <a:ext cx="530352" cy="530352"/>
          </a:xfrm>
          <a:prstGeom prst="ellipse">
            <a:avLst/>
          </a:prstGeom>
          <a:solidFill>
            <a:srgbClr val="95D5B2"/>
          </a:solidFill>
          <a:ln/>
        </p:spPr>
      </p:sp>
      <p:pic>
        <p:nvPicPr>
          <p:cNvPr id="34" name="Image 1" descr="C:\Users\Nacho Andrade\Desktop\Maestria en Ingeniería de Software\Tercer semestre\Configuracion del software\Baseline_Presentacion\icons\hourgl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86" y="2212848"/>
            <a:ext cx="310896" cy="310896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8438606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BF6E9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8493470" y="3035808"/>
            <a:ext cx="12945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8493470" y="5102352"/>
            <a:ext cx="1294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11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10398687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398687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0" name="Shape 36"/>
          <p:cNvSpPr/>
          <p:nvPr/>
        </p:nvSpPr>
        <p:spPr>
          <a:xfrm>
            <a:off x="9961735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10016599" y="3035808"/>
            <a:ext cx="12945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Release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10016599" y="5102352"/>
            <a:ext cx="1294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950" dirty="0"/>
          </a:p>
        </p:txBody>
      </p:sp>
      <p:sp>
        <p:nvSpPr>
          <p:cNvPr id="43" name="Text 3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moneyb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Resources &amp; Budget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using average Mexican market rates, 2026 (MXN) — monthly figures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160020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51560" y="1600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(part-time)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/ mo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1965960"/>
            <a:ext cx="1054303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1965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$18,000 / mo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233172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51560" y="2331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$16,000 / mo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2697480"/>
            <a:ext cx="1054303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" y="2697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Designer (part-time)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 / mo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22960" y="306324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51560" y="3063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Automation Engineer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50392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$20,000 / mo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" y="3429000"/>
            <a:ext cx="1054303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51560" y="3429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QA (part-time)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$9,000 / mo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22960" y="379476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51560" y="3794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infrastructure (CUValles)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— no direct cost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22960" y="4160520"/>
            <a:ext cx="1054303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1560" y="4160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for local LLM inference (Ollama)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850392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 one-time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22960" y="452628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156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SSL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850392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/ yr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22960" y="5074920"/>
            <a:ext cx="10543032" cy="548640"/>
          </a:xfrm>
          <a:prstGeom prst="roundRect">
            <a:avLst>
              <a:gd name="adj" fmla="val 16667"/>
            </a:avLst>
          </a:prstGeom>
          <a:solidFill>
            <a:srgbClr val="7F553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051560" y="5074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team cost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589520" y="5074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$85,000 MXN / month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69671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$1,020,000 MXN for the full 12-month project (team only)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4572000" cy="4572000"/>
          </a:xfrm>
          <a:prstGeom prst="ellipse">
            <a:avLst/>
          </a:prstGeom>
          <a:solidFill>
            <a:srgbClr val="10281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0281E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828800"/>
            <a:ext cx="1005840" cy="1005840"/>
          </a:xfrm>
          <a:prstGeom prst="ellipse">
            <a:avLst/>
          </a:prstGeom>
          <a:solidFill>
            <a:srgbClr val="95D5B2"/>
          </a:solidFill>
          <a:ln/>
        </p:spPr>
      </p:sp>
      <p:pic>
        <p:nvPicPr>
          <p:cNvPr id="5" name="Image 0" descr="C:\Users\Nacho Andrade\Desktop\Maestria en Ingeniería de Software\Tercer semestre\Configuracion del software\Baseline_Presentacion\icons\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628" y="1949501"/>
            <a:ext cx="764438" cy="7644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0632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319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milestone: SCM Plan &amp; Configuration Identification — Month 2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3949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Andrade Salazar   ·   ignacio.andrade2285@alumnos.udg.mx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2026-08-27T22:48:30Z</dcterms:created>
  <dcterms:modified xsi:type="dcterms:W3CDTF">2026-08-27T22:48:30Z</dcterms:modified>
</cp:coreProperties>
</file>