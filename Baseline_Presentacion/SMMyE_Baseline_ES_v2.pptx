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1.png"/><Relationship Id="rId5" Type="http://schemas.openxmlformats.org/officeDocument/2006/relationships/image" Target="../media/image-8-5.png"/><Relationship Id="rId6" Type="http://schemas.openxmlformats.org/officeDocument/2006/relationships/image" Target="../media/image-8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645920"/>
            <a:ext cx="4572000" cy="4572000"/>
          </a:xfrm>
          <a:prstGeom prst="ellipse">
            <a:avLst/>
          </a:prstGeom>
          <a:solidFill>
            <a:srgbClr val="10281E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657600" cy="3657600"/>
          </a:xfrm>
          <a:prstGeom prst="ellipse">
            <a:avLst/>
          </a:prstGeom>
          <a:solidFill>
            <a:srgbClr val="10281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822960" cy="82296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5" name="Image 0" descr="C:\Users\Nacho Andrade\Desktop\Maestria en Ingeniería de Software\Tercer semestre\Configuracion del software\Baseline_Presentacion\icons\seedl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715" y="784555"/>
            <a:ext cx="625450" cy="6254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5943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SMMyE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1488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5D5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Monitoreo Medioambiental y Edafológico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88036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Región Valles, Jalisco, México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4480560"/>
            <a:ext cx="10543032" cy="18288"/>
          </a:xfrm>
          <a:prstGeom prst="rect">
            <a:avLst/>
          </a:prstGeom>
          <a:solidFill>
            <a:srgbClr val="2F513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" y="47091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 de la Configuración del Software — Posgrado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50749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del Proyecto v1.0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5806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Ignacio Andrade Salazar — Project Manager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61081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de agosto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731520" cy="73152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4" name="Image 0" descr="C:\Users\Nacho Andrade\Desktop\Maestria en Ingeniería de Software\Tercer semestre\Configuracion del software\Baseline_Presentacion\icons\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" y="407822"/>
            <a:ext cx="555955" cy="5559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38404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Es Importante?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22960" y="1828800"/>
            <a:ext cx="10543032" cy="1280160"/>
          </a:xfrm>
          <a:prstGeom prst="roundRect">
            <a:avLst>
              <a:gd name="adj" fmla="val 8571"/>
            </a:avLst>
          </a:prstGeom>
          <a:solidFill>
            <a:srgbClr val="F5F7F5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097280" y="2304288"/>
            <a:ext cx="329184" cy="329184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97280" y="2304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691640" y="1965960"/>
            <a:ext cx="9418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Región Valles carece de datos ambientales y edafológicos continuos y accesibles al público.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3429000"/>
            <a:ext cx="10543032" cy="1280160"/>
          </a:xfrm>
          <a:prstGeom prst="roundRect">
            <a:avLst>
              <a:gd name="adj" fmla="val 8571"/>
            </a:avLst>
          </a:prstGeom>
          <a:solidFill>
            <a:srgbClr val="F5F7F5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097280" y="3904488"/>
            <a:ext cx="329184" cy="329184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097280" y="3904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691640" y="3566160"/>
            <a:ext cx="9418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Agricultores, investigadores y autoridades locales necesitan información comprensible en tiempo real, no solo registros crudos de sensores.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22960" y="5029200"/>
            <a:ext cx="10543032" cy="1280160"/>
          </a:xfrm>
          <a:prstGeom prst="roundRect">
            <a:avLst>
              <a:gd name="adj" fmla="val 8571"/>
            </a:avLst>
          </a:prstGeom>
          <a:solidFill>
            <a:srgbClr val="F5F7F5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1097280" y="5504688"/>
            <a:ext cx="329184" cy="329184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097280" y="5504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691640" y="5166360"/>
            <a:ext cx="9418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plataformas IoT existentes exponen datos, pero rara vez los explican en lenguaje natural.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SMMyE  |  Baseline del Proyecto v1.0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731520" cy="73152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4" name="Image 0" descr="C:\Users\Nacho Andrade\Desktop\Maestria en Ingeniería de Software\Tercer semestre\Configuracion del software\Baseline_Presentacion\icons\bulls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" y="407822"/>
            <a:ext cx="555955" cy="5559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38404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22960" y="1737360"/>
            <a:ext cx="10543032" cy="1554480"/>
          </a:xfrm>
          <a:prstGeom prst="roundRect">
            <a:avLst>
              <a:gd name="adj" fmla="val 7059"/>
            </a:avLst>
          </a:prstGeom>
          <a:solidFill>
            <a:srgbClr val="1B433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097280" y="18745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1945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y evaluar una plataforma web que integra un agente inteligente (mediante MCP + LLM) para facilitar el acceso y comprensión de los datos técnicos generados por los nodos IoT del SMMyE a usuarios de distintos niveles de conocimiento en la Región Valles.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520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F55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2960" y="3931920"/>
            <a:ext cx="5074920" cy="960120"/>
          </a:xfrm>
          <a:prstGeom prst="roundRect">
            <a:avLst>
              <a:gd name="adj" fmla="val 9524"/>
            </a:avLst>
          </a:prstGeom>
          <a:solidFill>
            <a:srgbClr val="F5F7F5"/>
          </a:solidFill>
          <a:ln/>
        </p:spPr>
      </p:sp>
      <p:sp>
        <p:nvSpPr>
          <p:cNvPr id="11" name="Shape 8"/>
          <p:cNvSpPr/>
          <p:nvPr/>
        </p:nvSpPr>
        <p:spPr>
          <a:xfrm>
            <a:off x="1024128" y="4265676"/>
            <a:ext cx="292608" cy="292608"/>
          </a:xfrm>
          <a:prstGeom prst="ellipse">
            <a:avLst/>
          </a:prstGeom>
          <a:solidFill>
            <a:srgbClr val="95D5B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024128" y="42656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463040" y="4005072"/>
            <a:ext cx="42519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los requerimientos funcionales y no funcionales (ERS)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291072" y="3931920"/>
            <a:ext cx="5074920" cy="960120"/>
          </a:xfrm>
          <a:prstGeom prst="roundRect">
            <a:avLst>
              <a:gd name="adj" fmla="val 9524"/>
            </a:avLst>
          </a:prstGeom>
          <a:solidFill>
            <a:srgbClr val="F5F7F5"/>
          </a:solidFill>
          <a:ln/>
        </p:spPr>
      </p:sp>
      <p:sp>
        <p:nvSpPr>
          <p:cNvPr id="15" name="Shape 12"/>
          <p:cNvSpPr/>
          <p:nvPr/>
        </p:nvSpPr>
        <p:spPr>
          <a:xfrm>
            <a:off x="6492240" y="4265676"/>
            <a:ext cx="292608" cy="292608"/>
          </a:xfrm>
          <a:prstGeom prst="ellipse">
            <a:avLst/>
          </a:prstGeom>
          <a:solidFill>
            <a:srgbClr val="95D5B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92240" y="42656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931152" y="4005072"/>
            <a:ext cx="42519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una arquitectura escalable y segura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22960" y="5148072"/>
            <a:ext cx="5074920" cy="960120"/>
          </a:xfrm>
          <a:prstGeom prst="roundRect">
            <a:avLst>
              <a:gd name="adj" fmla="val 9524"/>
            </a:avLst>
          </a:prstGeom>
          <a:solidFill>
            <a:srgbClr val="F5F7F5"/>
          </a:solidFill>
          <a:ln/>
        </p:spPr>
      </p:sp>
      <p:sp>
        <p:nvSpPr>
          <p:cNvPr id="19" name="Shape 16"/>
          <p:cNvSpPr/>
          <p:nvPr/>
        </p:nvSpPr>
        <p:spPr>
          <a:xfrm>
            <a:off x="1024128" y="5481828"/>
            <a:ext cx="292608" cy="292608"/>
          </a:xfrm>
          <a:prstGeom prst="ellipse">
            <a:avLst/>
          </a:prstGeom>
          <a:solidFill>
            <a:srgbClr val="95D5B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24128" y="54818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463040" y="5221224"/>
            <a:ext cx="42519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la API REST, la plataforma web y el servidor MCP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291072" y="5148072"/>
            <a:ext cx="5074920" cy="960120"/>
          </a:xfrm>
          <a:prstGeom prst="roundRect">
            <a:avLst>
              <a:gd name="adj" fmla="val 9524"/>
            </a:avLst>
          </a:prstGeom>
          <a:solidFill>
            <a:srgbClr val="F5F7F5"/>
          </a:solidFill>
          <a:ln/>
        </p:spPr>
      </p:sp>
      <p:sp>
        <p:nvSpPr>
          <p:cNvPr id="23" name="Shape 20"/>
          <p:cNvSpPr/>
          <p:nvPr/>
        </p:nvSpPr>
        <p:spPr>
          <a:xfrm>
            <a:off x="6492240" y="5481828"/>
            <a:ext cx="292608" cy="292608"/>
          </a:xfrm>
          <a:prstGeom prst="ellipse">
            <a:avLst/>
          </a:prstGeom>
          <a:solidFill>
            <a:srgbClr val="95D5B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492240" y="54818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931152" y="5221224"/>
            <a:ext cx="42519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la usabilidad con usuarios reales (meta: SUS ≥ 70)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SMMyE  |  Baseline del Proyecto v1.0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731520" cy="73152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4" name="Image 0" descr="C:\Users\Nacho Andrade\Desktop\Maestria en Ingeniería de Software\Tercer semestre\Configuracion del software\Baseline_Presentacion\icons\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" y="407822"/>
            <a:ext cx="555955" cy="5559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38404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22960" y="1783080"/>
            <a:ext cx="5074920" cy="4617720"/>
          </a:xfrm>
          <a:prstGeom prst="roundRect">
            <a:avLst>
              <a:gd name="adj" fmla="val 2376"/>
            </a:avLst>
          </a:prstGeom>
          <a:solidFill>
            <a:srgbClr val="EAF4EC"/>
          </a:solidFill>
          <a:ln/>
        </p:spPr>
      </p:sp>
      <p:sp>
        <p:nvSpPr>
          <p:cNvPr id="7" name="Shape 4"/>
          <p:cNvSpPr/>
          <p:nvPr/>
        </p:nvSpPr>
        <p:spPr>
          <a:xfrm>
            <a:off x="1051560" y="2011680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8" name="Image 1" descr="C:\Users\Nacho Andrade\Desktop\Maestria en Ingeniería de Software\Tercer semestre\Configuracion del software\Baseline_Presentacion\icons\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" y="2072030"/>
            <a:ext cx="382219" cy="38221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91640" y="207568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Dentro del Alcance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051560" y="27432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✓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 y almacenamiento continuo de datos de nodos IoT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1051560" y="34290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✓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en tiempo real: tablas, tarjetas, gráficos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1051560" y="41148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✓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 de estaciones, sensores y usuarios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1051560" y="48006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✓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de chat en lenguaje natural — EcoFlow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1051560" y="54864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✓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inicial en nodos de CUValles, Región Valles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291072" y="1783080"/>
            <a:ext cx="5074920" cy="4617720"/>
          </a:xfrm>
          <a:prstGeom prst="roundRect">
            <a:avLst>
              <a:gd name="adj" fmla="val 2376"/>
            </a:avLst>
          </a:prstGeom>
          <a:solidFill>
            <a:srgbClr val="F3EBE4"/>
          </a:solidFill>
          <a:ln/>
        </p:spPr>
      </p:sp>
      <p:sp>
        <p:nvSpPr>
          <p:cNvPr id="16" name="Shape 12"/>
          <p:cNvSpPr/>
          <p:nvPr/>
        </p:nvSpPr>
        <p:spPr>
          <a:xfrm>
            <a:off x="6519672" y="2011680"/>
            <a:ext cx="502920" cy="502920"/>
          </a:xfrm>
          <a:prstGeom prst="ellipse">
            <a:avLst/>
          </a:prstGeom>
          <a:solidFill>
            <a:srgbClr val="F5F7F5"/>
          </a:solidFill>
          <a:ln/>
        </p:spPr>
      </p:sp>
      <p:pic>
        <p:nvPicPr>
          <p:cNvPr id="17" name="Image 2" descr="C:\Users\Nacho Andrade\Desktop\Maestria en Ingeniería de Software\Tercer semestre\Configuracion del software\Baseline_Presentacion\icons\tim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022" y="2072030"/>
            <a:ext cx="382219" cy="382219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159752" y="207568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55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Fuera de Alcance / Limitaciones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6519672" y="27432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✗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o actuación sobre dispositivos físicos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6519672" y="34290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✗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Calibración remota / configuración de hardware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6519672" y="41148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✗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Analítica predictiva o pronósticos (trabajo futuro)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6519672" y="48006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✗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externas automatizadas (email/SMS)</a:t>
            </a:r>
            <a:endParaRPr lang="en-US" sz="1250" dirty="0"/>
          </a:p>
        </p:txBody>
      </p:sp>
      <p:sp>
        <p:nvSpPr>
          <p:cNvPr id="23" name="Text 18"/>
          <p:cNvSpPr txBox="1"/>
          <p:nvPr/>
        </p:nvSpPr>
        <p:spPr>
          <a:xfrm>
            <a:off x="6519672" y="548640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✗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disponibilidad / redundancia (un solo servidor)</a:t>
            </a:r>
            <a:endParaRPr lang="en-US" sz="1250" dirty="0"/>
          </a:p>
        </p:txBody>
      </p:sp>
      <p:sp>
        <p:nvSpPr>
          <p:cNvPr id="24" name="Text 1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SMMyE  |  Baseline del Proyecto v1.0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731520" cy="73152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4" name="Image 0" descr="C:\Users\Nacho Andrade\Desktop\Maestria en Ingeniería de Software\Tercer semestre\Configuracion del software\Baseline_Presentacion\icons\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" y="407822"/>
            <a:ext cx="555955" cy="5559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2743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del Sistema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777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capas desacopladas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22960" y="1691640"/>
            <a:ext cx="10543032" cy="841248"/>
          </a:xfrm>
          <a:prstGeom prst="roundRect">
            <a:avLst>
              <a:gd name="adj" fmla="val 10870"/>
            </a:avLst>
          </a:prstGeom>
          <a:solidFill>
            <a:srgbClr val="1B4332"/>
          </a:solidFill>
          <a:ln/>
        </p:spPr>
      </p:sp>
      <p:sp>
        <p:nvSpPr>
          <p:cNvPr id="8" name="Shape 5"/>
          <p:cNvSpPr/>
          <p:nvPr/>
        </p:nvSpPr>
        <p:spPr>
          <a:xfrm>
            <a:off x="1024128" y="1837944"/>
            <a:ext cx="548640" cy="54864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9" name="Image 1" descr="C:\Users\Nacho Andrade\Desktop\Maestria en Ingeniería de Software\Tercer semestre\Configuracion del software\Baseline_Presentacion\icons\raspberryp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5" y="1903781"/>
            <a:ext cx="416966" cy="41696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828800" y="178308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Adquisición (IoT)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5212080" y="178308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Nodos Raspberry Pi 5 con sensores medioambientales y edafológicos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22960" y="2660904"/>
            <a:ext cx="10543032" cy="841248"/>
          </a:xfrm>
          <a:prstGeom prst="roundRect">
            <a:avLst>
              <a:gd name="adj" fmla="val 10870"/>
            </a:avLst>
          </a:prstGeom>
          <a:solidFill>
            <a:srgbClr val="2F5D45"/>
          </a:solidFill>
          <a:ln/>
        </p:spPr>
      </p:sp>
      <p:sp>
        <p:nvSpPr>
          <p:cNvPr id="13" name="Shape 9"/>
          <p:cNvSpPr/>
          <p:nvPr/>
        </p:nvSpPr>
        <p:spPr>
          <a:xfrm>
            <a:off x="1024128" y="2807208"/>
            <a:ext cx="548640" cy="54864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14" name="Image 2" descr="C:\Users\Nacho Andrade\Desktop\Maestria en Ingeniería de Software\Tercer semestre\Configuracion del software\Baseline_Presentacion\icons\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965" y="2873045"/>
            <a:ext cx="416966" cy="41696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828800" y="2752344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Lógica de Negocio</a:t>
            </a:r>
            <a:endParaRPr lang="en-US" sz="1450" dirty="0"/>
          </a:p>
        </p:txBody>
      </p:sp>
      <p:sp>
        <p:nvSpPr>
          <p:cNvPr id="16" name="Text 11"/>
          <p:cNvSpPr txBox="1"/>
          <p:nvPr/>
        </p:nvSpPr>
        <p:spPr>
          <a:xfrm>
            <a:off x="5212080" y="2752344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en Laravel 10 con autenticación JWT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822960" y="3630168"/>
            <a:ext cx="10543032" cy="841248"/>
          </a:xfrm>
          <a:prstGeom prst="roundRect">
            <a:avLst>
              <a:gd name="adj" fmla="val 10870"/>
            </a:avLst>
          </a:prstGeom>
          <a:solidFill>
            <a:srgbClr val="1B4332"/>
          </a:solidFill>
          <a:ln/>
        </p:spPr>
      </p:sp>
      <p:sp>
        <p:nvSpPr>
          <p:cNvPr id="18" name="Shape 13"/>
          <p:cNvSpPr/>
          <p:nvPr/>
        </p:nvSpPr>
        <p:spPr>
          <a:xfrm>
            <a:off x="1024128" y="3776472"/>
            <a:ext cx="548640" cy="54864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19" name="Image 3" descr="C:\Users\Nacho Andrade\Desktop\Maestria en Ingeniería de Software\Tercer semestre\Configuracion del software\Baseline_Presentacion\icons\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965" y="3842309"/>
            <a:ext cx="416966" cy="41696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828800" y="372160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Datos</a:t>
            </a:r>
            <a:endParaRPr lang="en-US" sz="1450" dirty="0"/>
          </a:p>
        </p:txBody>
      </p:sp>
      <p:sp>
        <p:nvSpPr>
          <p:cNvPr id="21" name="Text 15"/>
          <p:cNvSpPr txBox="1"/>
          <p:nvPr/>
        </p:nvSpPr>
        <p:spPr>
          <a:xfrm>
            <a:off x="5212080" y="3721608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 — almacenamiento relacional de todo el sistema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822960" y="4599432"/>
            <a:ext cx="10543032" cy="841248"/>
          </a:xfrm>
          <a:prstGeom prst="roundRect">
            <a:avLst>
              <a:gd name="adj" fmla="val 10870"/>
            </a:avLst>
          </a:prstGeom>
          <a:solidFill>
            <a:srgbClr val="2F5D45"/>
          </a:solidFill>
          <a:ln/>
        </p:spPr>
      </p:sp>
      <p:sp>
        <p:nvSpPr>
          <p:cNvPr id="23" name="Shape 17"/>
          <p:cNvSpPr/>
          <p:nvPr/>
        </p:nvSpPr>
        <p:spPr>
          <a:xfrm>
            <a:off x="1024128" y="4745736"/>
            <a:ext cx="548640" cy="54864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24" name="Image 4" descr="C:\Users\Nacho Andrade\Desktop\Maestria en Ingeniería de Software\Tercer semestre\Configuracion del software\Baseline_Presentacion\icons\deskto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965" y="4811573"/>
            <a:ext cx="416966" cy="41696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828800" y="4690872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Presentación (SPA)</a:t>
            </a:r>
            <a:endParaRPr lang="en-US" sz="1450" dirty="0"/>
          </a:p>
        </p:txBody>
      </p:sp>
      <p:sp>
        <p:nvSpPr>
          <p:cNvPr id="26" name="Text 19"/>
          <p:cNvSpPr txBox="1"/>
          <p:nvPr/>
        </p:nvSpPr>
        <p:spPr>
          <a:xfrm>
            <a:off x="5212080" y="4690872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— monitoreo, estadísticas, administración y reportes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822960" y="5568696"/>
            <a:ext cx="10543032" cy="841248"/>
          </a:xfrm>
          <a:prstGeom prst="roundRect">
            <a:avLst>
              <a:gd name="adj" fmla="val 10870"/>
            </a:avLst>
          </a:prstGeom>
          <a:solidFill>
            <a:srgbClr val="1B4332"/>
          </a:solidFill>
          <a:ln/>
        </p:spPr>
      </p:sp>
      <p:sp>
        <p:nvSpPr>
          <p:cNvPr id="28" name="Shape 21"/>
          <p:cNvSpPr/>
          <p:nvPr/>
        </p:nvSpPr>
        <p:spPr>
          <a:xfrm>
            <a:off x="1024128" y="5715000"/>
            <a:ext cx="548640" cy="54864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29" name="Image 5" descr="C:\Users\Nacho Andrade\Desktop\Maestria en Ingeniería de Software\Tercer semestre\Configuracion del software\Baseline_Presentacion\icons\robo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9965" y="5780837"/>
            <a:ext cx="416966" cy="416966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828800" y="5660136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Inteligencia Conversacional</a:t>
            </a:r>
            <a:endParaRPr lang="en-US" sz="1450" dirty="0"/>
          </a:p>
        </p:txBody>
      </p:sp>
      <p:sp>
        <p:nvSpPr>
          <p:cNvPr id="31" name="Text 23"/>
          <p:cNvSpPr txBox="1"/>
          <p:nvPr/>
        </p:nvSpPr>
        <p:spPr>
          <a:xfrm>
            <a:off x="5212080" y="5660136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+ servidor MCP + Ollama (LLM local)</a:t>
            </a:r>
            <a:endParaRPr lang="en-US" sz="1250" dirty="0"/>
          </a:p>
        </p:txBody>
      </p:sp>
      <p:sp>
        <p:nvSpPr>
          <p:cNvPr id="32" name="Text 2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SMMyE  |  Baseline del Proyecto v1.0</a:t>
            </a:r>
            <a:endParaRPr lang="en-US" sz="900" dirty="0"/>
          </a:p>
        </p:txBody>
      </p:sp>
      <p:sp>
        <p:nvSpPr>
          <p:cNvPr id="33" name="Text 2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731520" cy="73152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4" name="Image 0" descr="C:\Users\Nacho Andrade\Desktop\Maestria en Ingeniería de Software\Tercer semestre\Configuracion del software\Baseline_Presentacion\icons\raspberry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" y="407822"/>
            <a:ext cx="555955" cy="5559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27432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de Sensores IoT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77724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provisto e instalado por CUValles — replicable a otras regiones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22960" y="1874520"/>
            <a:ext cx="3310128" cy="4114800"/>
          </a:xfrm>
          <a:prstGeom prst="roundRect">
            <a:avLst>
              <a:gd name="adj" fmla="val 3867"/>
            </a:avLst>
          </a:prstGeom>
          <a:solidFill>
            <a:srgbClr val="F5F7F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020824" y="2240280"/>
            <a:ext cx="914400" cy="91440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9" name="Image 1" descr="C:\Users\Nacho Andrade\Desktop\Maestria en Ingeniería de Software\Tercer semestre\Configuracion del software\Baseline_Presentacion\icons\wi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552" y="2350008"/>
            <a:ext cx="694944" cy="6949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05840" y="3383280"/>
            <a:ext cx="2944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Aire y Clima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4023360"/>
            <a:ext cx="26700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· Humedad · Presión · CO₂ · Material particulado · Lluvia · Velocidad y dirección del viento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434840" y="1874520"/>
            <a:ext cx="3310128" cy="4114800"/>
          </a:xfrm>
          <a:prstGeom prst="roundRect">
            <a:avLst>
              <a:gd name="adj" fmla="val 3867"/>
            </a:avLst>
          </a:prstGeom>
          <a:solidFill>
            <a:srgbClr val="F5F7F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632704" y="2240280"/>
            <a:ext cx="914400" cy="91440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4" name="Image 2" descr="C:\Users\Nacho Andrade\Desktop\Maestria en Ingeniería de Software\Tercer semestre\Configuracion del software\Baseline_Presentacion\icons\su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2" y="2350008"/>
            <a:ext cx="694944" cy="6949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617720" y="3383280"/>
            <a:ext cx="2944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Radiación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4754880" y="4023360"/>
            <a:ext cx="26700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Radiación UV · Intensidad de luz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046720" y="1874520"/>
            <a:ext cx="3310128" cy="4114800"/>
          </a:xfrm>
          <a:prstGeom prst="roundRect">
            <a:avLst>
              <a:gd name="adj" fmla="val 3867"/>
            </a:avLst>
          </a:prstGeom>
          <a:solidFill>
            <a:srgbClr val="F5F7F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244584" y="2240280"/>
            <a:ext cx="914400" cy="91440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9" name="Image 3" descr="C:\Users\Nacho Andrade\Desktop\Maestria en Ingeniería de Software\Tercer semestre\Configuracion del software\Baseline_Presentacion\icons\flas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4312" y="2350008"/>
            <a:ext cx="694944" cy="69494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229600" y="3383280"/>
            <a:ext cx="2944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Suelo (Edafológico)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8366760" y="4023360"/>
            <a:ext cx="267004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Nitrógeno (N) · Fósforo (P) · Potasio (K)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SMMyE  |  Baseline del Proyecto v1.0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731520" cy="73152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4" name="Image 0" descr="C:\Users\Nacho Andrade\Desktop\Maestria en Ingeniería de Software\Tercer semestre\Configuracion del software\Baseline_Presentacion\icons\tool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" y="407822"/>
            <a:ext cx="555955" cy="5559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38404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Tecnológico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22960" y="1783080"/>
            <a:ext cx="10543032" cy="777240"/>
          </a:xfrm>
          <a:prstGeom prst="roundRect">
            <a:avLst>
              <a:gd name="adj" fmla="val 11765"/>
            </a:avLst>
          </a:prstGeom>
          <a:solidFill>
            <a:srgbClr val="F5F7F5"/>
          </a:solidFill>
          <a:ln/>
        </p:spPr>
      </p:sp>
      <p:sp>
        <p:nvSpPr>
          <p:cNvPr id="7" name="Shape 4"/>
          <p:cNvSpPr/>
          <p:nvPr/>
        </p:nvSpPr>
        <p:spPr>
          <a:xfrm>
            <a:off x="1005840" y="1915668"/>
            <a:ext cx="512064" cy="512064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8" name="Image 1" descr="C:\Users\Nacho Andrade\Desktop\Maestria en Ingeniería de Software\Tercer semestre\Configuracion del software\Baseline_Presentacion\icons\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288" y="1977116"/>
            <a:ext cx="389169" cy="38916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83080" y="1856232"/>
            <a:ext cx="2834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4754880" y="1856232"/>
            <a:ext cx="64008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8.2 + Laravel 10, autenticación JWT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22960" y="2706624"/>
            <a:ext cx="10543032" cy="777240"/>
          </a:xfrm>
          <a:prstGeom prst="roundRect">
            <a:avLst>
              <a:gd name="adj" fmla="val 11765"/>
            </a:avLst>
          </a:prstGeom>
          <a:solidFill>
            <a:srgbClr val="EAF0EA"/>
          </a:solidFill>
          <a:ln/>
        </p:spPr>
      </p:sp>
      <p:sp>
        <p:nvSpPr>
          <p:cNvPr id="12" name="Shape 8"/>
          <p:cNvSpPr/>
          <p:nvPr/>
        </p:nvSpPr>
        <p:spPr>
          <a:xfrm>
            <a:off x="1005840" y="2839212"/>
            <a:ext cx="512064" cy="512064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3" name="Image 2" descr="C:\Users\Nacho Andrade\Desktop\Maestria en Ingeniería de Software\Tercer semestre\Configuracion del software\Baseline_Presentacion\icons\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288" y="2900660"/>
            <a:ext cx="389169" cy="38916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783080" y="2779776"/>
            <a:ext cx="2834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datos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4754880" y="2779776"/>
            <a:ext cx="64008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22960" y="3630168"/>
            <a:ext cx="10543032" cy="777240"/>
          </a:xfrm>
          <a:prstGeom prst="roundRect">
            <a:avLst>
              <a:gd name="adj" fmla="val 11765"/>
            </a:avLst>
          </a:prstGeom>
          <a:solidFill>
            <a:srgbClr val="F5F7F5"/>
          </a:solidFill>
          <a:ln/>
        </p:spPr>
      </p:sp>
      <p:sp>
        <p:nvSpPr>
          <p:cNvPr id="17" name="Shape 12"/>
          <p:cNvSpPr/>
          <p:nvPr/>
        </p:nvSpPr>
        <p:spPr>
          <a:xfrm>
            <a:off x="1005840" y="3762756"/>
            <a:ext cx="512064" cy="512064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8" name="Image 3" descr="C:\Users\Nacho Andrade\Desktop\Maestria en Ingeniería de Software\Tercer semestre\Configuracion del software\Baseline_Presentacion\icons\deskto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7288" y="3824204"/>
            <a:ext cx="389169" cy="389169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783080" y="3703320"/>
            <a:ext cx="2834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4754880" y="3703320"/>
            <a:ext cx="64008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+ Vite + Pinia + Tailwind CSS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822960" y="4553712"/>
            <a:ext cx="10543032" cy="777240"/>
          </a:xfrm>
          <a:prstGeom prst="roundRect">
            <a:avLst>
              <a:gd name="adj" fmla="val 11765"/>
            </a:avLst>
          </a:prstGeom>
          <a:solidFill>
            <a:srgbClr val="EAF0EA"/>
          </a:solidFill>
          <a:ln/>
        </p:spPr>
      </p:sp>
      <p:sp>
        <p:nvSpPr>
          <p:cNvPr id="22" name="Shape 16"/>
          <p:cNvSpPr/>
          <p:nvPr/>
        </p:nvSpPr>
        <p:spPr>
          <a:xfrm>
            <a:off x="1005840" y="4686300"/>
            <a:ext cx="512064" cy="512064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3" name="Image 4" descr="C:\Users\Nacho Andrade\Desktop\Maestria en Ingeniería de Software\Tercer semestre\Configuracion del software\Baseline_Presentacion\icons\robo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288" y="4747748"/>
            <a:ext cx="389169" cy="389169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783080" y="4626864"/>
            <a:ext cx="2834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/ Chat</a:t>
            </a:r>
            <a:endParaRPr lang="en-US" sz="1400" dirty="0"/>
          </a:p>
        </p:txBody>
      </p:sp>
      <p:sp>
        <p:nvSpPr>
          <p:cNvPr id="25" name="Text 18"/>
          <p:cNvSpPr txBox="1"/>
          <p:nvPr/>
        </p:nvSpPr>
        <p:spPr>
          <a:xfrm>
            <a:off x="4754880" y="4626864"/>
            <a:ext cx="64008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Orquestador n8n + servidor MCP + Ollama (LLM local)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822960" y="5477256"/>
            <a:ext cx="10543032" cy="777240"/>
          </a:xfrm>
          <a:prstGeom prst="roundRect">
            <a:avLst>
              <a:gd name="adj" fmla="val 11765"/>
            </a:avLst>
          </a:prstGeom>
          <a:solidFill>
            <a:srgbClr val="F5F7F5"/>
          </a:solidFill>
          <a:ln/>
        </p:spPr>
      </p:sp>
      <p:sp>
        <p:nvSpPr>
          <p:cNvPr id="27" name="Shape 20"/>
          <p:cNvSpPr/>
          <p:nvPr/>
        </p:nvSpPr>
        <p:spPr>
          <a:xfrm>
            <a:off x="1005840" y="5609844"/>
            <a:ext cx="512064" cy="512064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8" name="Image 5" descr="C:\Users\Nacho Andrade\Desktop\Maestria en Ingeniería de Software\Tercer semestre\Configuracion del software\Baseline_Presentacion\icons\networ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7288" y="5671292"/>
            <a:ext cx="389169" cy="389169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783080" y="5550408"/>
            <a:ext cx="28346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Infraestructura</a:t>
            </a:r>
            <a:endParaRPr lang="en-US" sz="1400" dirty="0"/>
          </a:p>
        </p:txBody>
      </p:sp>
      <p:sp>
        <p:nvSpPr>
          <p:cNvPr id="30" name="Text 22"/>
          <p:cNvSpPr txBox="1"/>
          <p:nvPr/>
        </p:nvSpPr>
        <p:spPr>
          <a:xfrm>
            <a:off x="4754880" y="5550408"/>
            <a:ext cx="640080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Docker Compose + Nginx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SMMyE  |  Baseline del Proyecto v1.0</a:t>
            </a:r>
            <a:endParaRPr lang="en-US" sz="900" dirty="0"/>
          </a:p>
        </p:txBody>
      </p:sp>
      <p:sp>
        <p:nvSpPr>
          <p:cNvPr id="32" name="Text 2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731520" cy="73152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3" name="Image 0" descr="C:\Users\Nacho Andrade\Desktop\Maestria en Ingeniería de Software\Tercer semestre\Configuracion del software\Baseline_Presentacion\icons\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" y="407822"/>
            <a:ext cx="555955" cy="55595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54480" y="38404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EcoFlow — El Asistente Conversacional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1691640" y="2880360"/>
            <a:ext cx="8805672" cy="0"/>
          </a:xfrm>
          <a:prstGeom prst="line">
            <a:avLst/>
          </a:prstGeom>
          <a:noFill/>
          <a:ln w="25400">
            <a:solidFill>
              <a:srgbClr val="95D5B2"/>
            </a:solidFill>
            <a:prstDash val="dash"/>
          </a:ln>
        </p:spPr>
      </p:sp>
      <p:sp>
        <p:nvSpPr>
          <p:cNvPr id="6" name="Shape 3"/>
          <p:cNvSpPr/>
          <p:nvPr/>
        </p:nvSpPr>
        <p:spPr>
          <a:xfrm>
            <a:off x="1188720" y="2377440"/>
            <a:ext cx="1005840" cy="100584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7" name="Image 1" descr="C:\Users\Nacho Andrade\Desktop\Maestria en Ingeniería de Software\Tercer semestre\Configuracion del software\Baseline_Presentacion\icons\comme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421" y="2498141"/>
            <a:ext cx="764438" cy="76443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85800" y="35204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hace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pregunta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3390138" y="2377440"/>
            <a:ext cx="1005840" cy="1005840"/>
          </a:xfrm>
          <a:prstGeom prst="ellipse">
            <a:avLst/>
          </a:prstGeom>
          <a:solidFill>
            <a:srgbClr val="2F5D45"/>
          </a:solidFill>
          <a:ln/>
        </p:spPr>
      </p:sp>
      <p:pic>
        <p:nvPicPr>
          <p:cNvPr id="10" name="Image 2" descr="C:\Users\Nacho Andrade\Desktop\Maestria en Ingeniería de Software\Tercer semestre\Configuracion del software\Baseline_Presentacion\icons\netwo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0839" y="2498141"/>
            <a:ext cx="764438" cy="76443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887218" y="35204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5591556" y="2377440"/>
            <a:ext cx="1005840" cy="100584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13" name="Image 3" descr="C:\Users\Nacho Andrade\Desktop\Maestria en Ingeniería de Software\Tercer semestre\Configuracion del software\Baseline_Presentacion\icons\rob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2257" y="2498141"/>
            <a:ext cx="764438" cy="76443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088636" y="35204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LLM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herramienta</a:t>
            </a:r>
            <a:endParaRPr lang="en-US" sz="1150" dirty="0"/>
          </a:p>
        </p:txBody>
      </p:sp>
      <p:sp>
        <p:nvSpPr>
          <p:cNvPr id="15" name="Shape 9"/>
          <p:cNvSpPr/>
          <p:nvPr/>
        </p:nvSpPr>
        <p:spPr>
          <a:xfrm>
            <a:off x="7792974" y="2377440"/>
            <a:ext cx="1005840" cy="1005840"/>
          </a:xfrm>
          <a:prstGeom prst="ellipse">
            <a:avLst/>
          </a:prstGeom>
          <a:solidFill>
            <a:srgbClr val="2F5D45"/>
          </a:solidFill>
          <a:ln/>
        </p:spPr>
      </p:sp>
      <p:pic>
        <p:nvPicPr>
          <p:cNvPr id="16" name="Image 4" descr="C:\Users\Nacho Andrade\Desktop\Maestria en Ingeniería de Software\Tercer semestre\Configuracion del software\Baseline_Presentacion\icons\toolbox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3675" y="2498141"/>
            <a:ext cx="764438" cy="764438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7290054" y="35204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MCP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datos</a:t>
            </a:r>
            <a:endParaRPr lang="en-US" sz="1150" dirty="0"/>
          </a:p>
        </p:txBody>
      </p:sp>
      <p:sp>
        <p:nvSpPr>
          <p:cNvPr id="18" name="Shape 11"/>
          <p:cNvSpPr/>
          <p:nvPr/>
        </p:nvSpPr>
        <p:spPr>
          <a:xfrm>
            <a:off x="9994392" y="2377440"/>
            <a:ext cx="1005840" cy="100584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19" name="Image 5" descr="C:\Users\Nacho Andrade\Desktop\Maestria en Ingeniería de Software\Tercer semestre\Configuracion del software\Baseline_Presentacion\icons\comment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5093" y="2498141"/>
            <a:ext cx="764438" cy="76443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9491472" y="35204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en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natural</a:t>
            </a:r>
            <a:endParaRPr lang="en-US" sz="1150" dirty="0"/>
          </a:p>
        </p:txBody>
      </p:sp>
      <p:sp>
        <p:nvSpPr>
          <p:cNvPr id="21" name="Shape 13"/>
          <p:cNvSpPr/>
          <p:nvPr/>
        </p:nvSpPr>
        <p:spPr>
          <a:xfrm>
            <a:off x="1280160" y="5212080"/>
            <a:ext cx="9628632" cy="822960"/>
          </a:xfrm>
          <a:prstGeom prst="roundRect">
            <a:avLst>
              <a:gd name="adj" fmla="val 11111"/>
            </a:avLst>
          </a:prstGeom>
          <a:solidFill>
            <a:srgbClr val="10281E"/>
          </a:solidFill>
          <a:ln/>
        </p:spPr>
      </p:sp>
      <p:sp>
        <p:nvSpPr>
          <p:cNvPr id="22" name="Text 14"/>
          <p:cNvSpPr txBox="1"/>
          <p:nvPr/>
        </p:nvSpPr>
        <p:spPr>
          <a:xfrm>
            <a:off x="1554480" y="5212080"/>
            <a:ext cx="90799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LLM nunca accede directamente a la base de datos — toda consulta pasa por herramientas MCP de solo lectura.</a:t>
            </a:r>
            <a:endParaRPr lang="en-US" sz="1250" dirty="0"/>
          </a:p>
        </p:txBody>
      </p:sp>
      <p:sp>
        <p:nvSpPr>
          <p:cNvPr id="23" name="Text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SMMyE  |  Baseline del Proyecto v1.0</a:t>
            </a:r>
            <a:endParaRPr lang="en-US" sz="900" dirty="0"/>
          </a:p>
        </p:txBody>
      </p:sp>
      <p:sp>
        <p:nvSpPr>
          <p:cNvPr id="24" name="Text 1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731520" cy="73152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4" name="Image 0" descr="C:\Users\Nacho Andrade\Desktop\Maestria en Ingeniería de Software\Tercer semestre\Configuracion del software\Baseline_Presentacion\icons\usert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" y="407822"/>
            <a:ext cx="555955" cy="5559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2743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Equipo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777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definidos para este ejercicio del curso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22960" y="1920240"/>
            <a:ext cx="1620012" cy="3931920"/>
          </a:xfrm>
          <a:prstGeom prst="roundRect">
            <a:avLst>
              <a:gd name="adj" fmla="val 6773"/>
            </a:avLst>
          </a:prstGeom>
          <a:solidFill>
            <a:srgbClr val="F5F7F5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267206" y="2212848"/>
            <a:ext cx="731520" cy="7315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9" name="Image 1" descr="C:\Users\Nacho Andrade\Desktop\Maestria en Ingeniería de Software\Tercer semestre\Configuracion del software\Baseline_Presentacion\icons\userti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988" y="2300630"/>
            <a:ext cx="555955" cy="55595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96112" y="3127248"/>
            <a:ext cx="1473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Ignacio Andrade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932688" y="4023360"/>
            <a:ext cx="14005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 / Líder SCM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607564" y="1920240"/>
            <a:ext cx="1620012" cy="3931920"/>
          </a:xfrm>
          <a:prstGeom prst="roundRect">
            <a:avLst>
              <a:gd name="adj" fmla="val 6773"/>
            </a:avLst>
          </a:prstGeom>
          <a:solidFill>
            <a:srgbClr val="F5F7F5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051810" y="2212848"/>
            <a:ext cx="731520" cy="7315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4" name="Image 2" descr="C:\Users\Nacho Andrade\Desktop\Maestria en Ingeniería de Software\Tercer semestre\Configuracion del software\Baseline_Presentacion\icons\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9592" y="2300630"/>
            <a:ext cx="555955" cy="55595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680716" y="3127248"/>
            <a:ext cx="1473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Desarrollador Backend</a:t>
            </a:r>
            <a:endParaRPr lang="en-US" sz="1150" dirty="0"/>
          </a:p>
        </p:txBody>
      </p:sp>
      <p:sp>
        <p:nvSpPr>
          <p:cNvPr id="16" name="Text 11"/>
          <p:cNvSpPr txBox="1"/>
          <p:nvPr/>
        </p:nvSpPr>
        <p:spPr>
          <a:xfrm>
            <a:off x="2717292" y="4023360"/>
            <a:ext cx="14005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Laravel y capa de datos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392168" y="1920240"/>
            <a:ext cx="1620012" cy="3931920"/>
          </a:xfrm>
          <a:prstGeom prst="roundRect">
            <a:avLst>
              <a:gd name="adj" fmla="val 6773"/>
            </a:avLst>
          </a:prstGeom>
          <a:solidFill>
            <a:srgbClr val="F5F7F5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836414" y="2212848"/>
            <a:ext cx="731520" cy="7315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9" name="Image 3" descr="C:\Users\Nacho Andrade\Desktop\Maestria en Ingeniería de Software\Tercer semestre\Configuracion del software\Baseline_Presentacion\icons\laptopc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4196" y="2300630"/>
            <a:ext cx="555955" cy="55595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465320" y="3127248"/>
            <a:ext cx="1473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Desarrollador Frontend</a:t>
            </a:r>
            <a:endParaRPr lang="en-US" sz="1150" dirty="0"/>
          </a:p>
        </p:txBody>
      </p:sp>
      <p:sp>
        <p:nvSpPr>
          <p:cNvPr id="21" name="Text 15"/>
          <p:cNvSpPr txBox="1"/>
          <p:nvPr/>
        </p:nvSpPr>
        <p:spPr>
          <a:xfrm>
            <a:off x="4501896" y="4023360"/>
            <a:ext cx="14005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 SPA en Vue 3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6176772" y="1920240"/>
            <a:ext cx="1620012" cy="3931920"/>
          </a:xfrm>
          <a:prstGeom prst="roundRect">
            <a:avLst>
              <a:gd name="adj" fmla="val 6773"/>
            </a:avLst>
          </a:prstGeom>
          <a:solidFill>
            <a:srgbClr val="F5F7F5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621018" y="2212848"/>
            <a:ext cx="731520" cy="7315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4" name="Image 4" descr="C:\Users\Nacho Andrade\Desktop\Maestria en Ingeniería de Software\Tercer semestre\Configuracion del software\Baseline_Presentacion\icons\paintbrus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8800" y="2300630"/>
            <a:ext cx="555955" cy="55595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249924" y="3127248"/>
            <a:ext cx="1473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Diseñador UI / UX</a:t>
            </a:r>
            <a:endParaRPr lang="en-US" sz="1150" dirty="0"/>
          </a:p>
        </p:txBody>
      </p:sp>
      <p:sp>
        <p:nvSpPr>
          <p:cNvPr id="26" name="Text 19"/>
          <p:cNvSpPr txBox="1"/>
          <p:nvPr/>
        </p:nvSpPr>
        <p:spPr>
          <a:xfrm>
            <a:off x="6286500" y="4023360"/>
            <a:ext cx="14005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 y sistema de diseño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7961376" y="1920240"/>
            <a:ext cx="1620012" cy="3931920"/>
          </a:xfrm>
          <a:prstGeom prst="roundRect">
            <a:avLst>
              <a:gd name="adj" fmla="val 6773"/>
            </a:avLst>
          </a:prstGeom>
          <a:solidFill>
            <a:srgbClr val="F5F7F5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8405622" y="2212848"/>
            <a:ext cx="731520" cy="7315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29" name="Image 5" descr="C:\Users\Nacho Andrade\Desktop\Maestria en Ingeniería de Software\Tercer semestre\Configuracion del software\Baseline_Presentacion\icons\brai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3404" y="2300630"/>
            <a:ext cx="555955" cy="555955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8034528" y="3127248"/>
            <a:ext cx="1473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Ingeniero de IA / Automatización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8071104" y="4023360"/>
            <a:ext cx="14005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n8n, MCP, Ollama, RAG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9745980" y="1920240"/>
            <a:ext cx="1620012" cy="3931920"/>
          </a:xfrm>
          <a:prstGeom prst="roundRect">
            <a:avLst>
              <a:gd name="adj" fmla="val 6773"/>
            </a:avLst>
          </a:prstGeom>
          <a:solidFill>
            <a:srgbClr val="F5F7F5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10190226" y="2212848"/>
            <a:ext cx="731520" cy="7315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34" name="Image 6" descr="C:\Users\Nacho Andrade\Desktop\Maestria en Ingeniería de Software\Tercer semestre\Configuracion del software\Baseline_Presentacion\icons\toolbox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78008" y="2300630"/>
            <a:ext cx="555955" cy="555955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9819132" y="3127248"/>
            <a:ext cx="14737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DevOps / QA</a:t>
            </a:r>
            <a:endParaRPr lang="en-US" sz="1150" dirty="0"/>
          </a:p>
        </p:txBody>
      </p:sp>
      <p:sp>
        <p:nvSpPr>
          <p:cNvPr id="36" name="Text 27"/>
          <p:cNvSpPr txBox="1"/>
          <p:nvPr/>
        </p:nvSpPr>
        <p:spPr>
          <a:xfrm>
            <a:off x="9855708" y="4023360"/>
            <a:ext cx="14005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Docker, pruebas, auditorías</a:t>
            </a:r>
            <a:endParaRPr lang="en-US" sz="1000" dirty="0"/>
          </a:p>
        </p:txBody>
      </p:sp>
      <p:sp>
        <p:nvSpPr>
          <p:cNvPr id="37" name="Text 28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SMMyE  |  Baseline del Proyecto v1.0</a:t>
            </a:r>
            <a:endParaRPr lang="en-US" sz="900" dirty="0"/>
          </a:p>
        </p:txBody>
      </p:sp>
      <p:sp>
        <p:nvSpPr>
          <p:cNvPr id="38" name="Text 29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731520" cy="73152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4" name="Image 0" descr="C:\Users\Nacho Andrade\Desktop\Maestria en Ingeniería de Software\Tercer semestre\Configuracion del software\Baseline_Presentacion\icons\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" y="407822"/>
            <a:ext cx="555955" cy="5559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2743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Cronograma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777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proyecto de 12 meses, con margen de contingencia incluido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1525089" y="2468880"/>
            <a:ext cx="9138775" cy="0"/>
          </a:xfrm>
          <a:prstGeom prst="line">
            <a:avLst/>
          </a:prstGeom>
          <a:noFill/>
          <a:ln w="25400">
            <a:solidFill>
              <a:srgbClr val="CBD9C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59913" y="2103120"/>
            <a:ext cx="530352" cy="530352"/>
          </a:xfrm>
          <a:prstGeom prst="ellipse">
            <a:avLst/>
          </a:prstGeom>
          <a:solidFill>
            <a:srgbClr val="7F553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59913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2960" y="2907792"/>
            <a:ext cx="1404257" cy="2761488"/>
          </a:xfrm>
          <a:prstGeom prst="roundRect">
            <a:avLst>
              <a:gd name="adj" fmla="val 6512"/>
            </a:avLst>
          </a:prstGeom>
          <a:solidFill>
            <a:srgbClr val="F3EBE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77824" y="3035808"/>
            <a:ext cx="129452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77824" y="5102352"/>
            <a:ext cx="12945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783042" y="2103120"/>
            <a:ext cx="530352" cy="530352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783042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2346089" y="2907792"/>
            <a:ext cx="1404257" cy="2761488"/>
          </a:xfrm>
          <a:prstGeom prst="roundRect">
            <a:avLst>
              <a:gd name="adj" fmla="val 6512"/>
            </a:avLst>
          </a:prstGeom>
          <a:solidFill>
            <a:srgbClr val="F5F7F5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2400953" y="3035808"/>
            <a:ext cx="129452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SCM 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Ident. de Config.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2400953" y="5102352"/>
            <a:ext cx="12945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2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306171" y="2103120"/>
            <a:ext cx="530352" cy="530352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4306171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3869218" y="2907792"/>
            <a:ext cx="1404257" cy="2761488"/>
          </a:xfrm>
          <a:prstGeom prst="roundRect">
            <a:avLst>
              <a:gd name="adj" fmla="val 6512"/>
            </a:avLst>
          </a:prstGeom>
          <a:solidFill>
            <a:srgbClr val="F5F7F5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3924082" y="3035808"/>
            <a:ext cx="129452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Diseño UX/UI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3924082" y="5102352"/>
            <a:ext cx="12945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3–4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829300" y="2103120"/>
            <a:ext cx="530352" cy="530352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829300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5392347" y="2907792"/>
            <a:ext cx="1404257" cy="2761488"/>
          </a:xfrm>
          <a:prstGeom prst="roundRect">
            <a:avLst>
              <a:gd name="adj" fmla="val 6512"/>
            </a:avLst>
          </a:prstGeom>
          <a:solidFill>
            <a:srgbClr val="F5F7F5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447211" y="3035808"/>
            <a:ext cx="129452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5447211" y="5102352"/>
            <a:ext cx="12945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5–8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7352429" y="2103120"/>
            <a:ext cx="530352" cy="530352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7352429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6915477" y="2907792"/>
            <a:ext cx="1404257" cy="2761488"/>
          </a:xfrm>
          <a:prstGeom prst="roundRect">
            <a:avLst>
              <a:gd name="adj" fmla="val 6512"/>
            </a:avLst>
          </a:prstGeom>
          <a:solidFill>
            <a:srgbClr val="F5F7F5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970341" y="3035808"/>
            <a:ext cx="129452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6970341" y="5102352"/>
            <a:ext cx="12945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9–10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8875558" y="2103120"/>
            <a:ext cx="530352" cy="530352"/>
          </a:xfrm>
          <a:prstGeom prst="ellipse">
            <a:avLst/>
          </a:prstGeom>
          <a:solidFill>
            <a:srgbClr val="95D5B2"/>
          </a:solidFill>
          <a:ln/>
        </p:spPr>
      </p:sp>
      <p:pic>
        <p:nvPicPr>
          <p:cNvPr id="34" name="Image 1" descr="C:\Users\Nacho Andrade\Desktop\Maestria en Ingeniería de Software\Tercer semestre\Configuracion del software\Baseline_Presentacion\icons\hourgl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5286" y="2212848"/>
            <a:ext cx="310896" cy="310896"/>
          </a:xfrm>
          <a:prstGeom prst="rect">
            <a:avLst/>
          </a:prstGeom>
        </p:spPr>
      </p:pic>
      <p:sp>
        <p:nvSpPr>
          <p:cNvPr id="35" name="Shape 31"/>
          <p:cNvSpPr/>
          <p:nvPr/>
        </p:nvSpPr>
        <p:spPr>
          <a:xfrm>
            <a:off x="8438606" y="2907792"/>
            <a:ext cx="1404257" cy="2761488"/>
          </a:xfrm>
          <a:prstGeom prst="roundRect">
            <a:avLst>
              <a:gd name="adj" fmla="val 6512"/>
            </a:avLst>
          </a:prstGeom>
          <a:solidFill>
            <a:srgbClr val="FBF6E9"/>
          </a:solidFill>
          <a:ln/>
        </p:spPr>
      </p:sp>
      <p:sp>
        <p:nvSpPr>
          <p:cNvPr id="36" name="Text 32"/>
          <p:cNvSpPr txBox="1"/>
          <p:nvPr/>
        </p:nvSpPr>
        <p:spPr>
          <a:xfrm>
            <a:off x="8493470" y="3035808"/>
            <a:ext cx="129452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Contingencia</a:t>
            </a:r>
            <a:endParaRPr lang="en-US" sz="1000" dirty="0"/>
          </a:p>
        </p:txBody>
      </p:sp>
      <p:sp>
        <p:nvSpPr>
          <p:cNvPr id="37" name="Text 33"/>
          <p:cNvSpPr txBox="1"/>
          <p:nvPr/>
        </p:nvSpPr>
        <p:spPr>
          <a:xfrm>
            <a:off x="8493470" y="5102352"/>
            <a:ext cx="12945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11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10398687" y="2103120"/>
            <a:ext cx="530352" cy="530352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9" name="Text 35"/>
          <p:cNvSpPr txBox="1"/>
          <p:nvPr/>
        </p:nvSpPr>
        <p:spPr>
          <a:xfrm>
            <a:off x="10398687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40" name="Shape 36"/>
          <p:cNvSpPr/>
          <p:nvPr/>
        </p:nvSpPr>
        <p:spPr>
          <a:xfrm>
            <a:off x="9961735" y="2907792"/>
            <a:ext cx="1404257" cy="2761488"/>
          </a:xfrm>
          <a:prstGeom prst="roundRect">
            <a:avLst>
              <a:gd name="adj" fmla="val 6512"/>
            </a:avLst>
          </a:prstGeom>
          <a:solidFill>
            <a:srgbClr val="F5F7F5"/>
          </a:solidFill>
          <a:ln/>
        </p:spPr>
      </p:sp>
      <p:sp>
        <p:nvSpPr>
          <p:cNvPr id="41" name="Text 37"/>
          <p:cNvSpPr txBox="1"/>
          <p:nvPr/>
        </p:nvSpPr>
        <p:spPr>
          <a:xfrm>
            <a:off x="10016599" y="3035808"/>
            <a:ext cx="129452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Final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Liberación</a:t>
            </a:r>
            <a:endParaRPr lang="en-US" sz="1000" dirty="0"/>
          </a:p>
        </p:txBody>
      </p:sp>
      <p:sp>
        <p:nvSpPr>
          <p:cNvPr id="42" name="Text 38"/>
          <p:cNvSpPr txBox="1"/>
          <p:nvPr/>
        </p:nvSpPr>
        <p:spPr>
          <a:xfrm>
            <a:off x="10016599" y="5102352"/>
            <a:ext cx="12945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12</a:t>
            </a:r>
            <a:endParaRPr lang="en-US" sz="950" dirty="0"/>
          </a:p>
        </p:txBody>
      </p:sp>
      <p:sp>
        <p:nvSpPr>
          <p:cNvPr id="43" name="Text 3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SMMyE  |  Baseline del Proyecto v1.0</a:t>
            </a:r>
            <a:endParaRPr lang="en-US" sz="900" dirty="0"/>
          </a:p>
        </p:txBody>
      </p:sp>
      <p:sp>
        <p:nvSpPr>
          <p:cNvPr id="44" name="Text 4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320040"/>
            <a:ext cx="731520" cy="731520"/>
          </a:xfrm>
          <a:prstGeom prst="ellipse">
            <a:avLst/>
          </a:prstGeom>
          <a:solidFill>
            <a:srgbClr val="7F5539"/>
          </a:solidFill>
          <a:ln/>
        </p:spPr>
      </p:sp>
      <p:pic>
        <p:nvPicPr>
          <p:cNvPr id="4" name="Image 0" descr="C:\Users\Nacho Andrade\Desktop\Maestria en Ingeniería de Software\Tercer semestre\Configuracion del software\Baseline_Presentacion\icons\moneybi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" y="407822"/>
            <a:ext cx="555955" cy="55595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274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Recursos y Presupuesto Estimado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7772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Estimado con base en precios promedio de mercado en México, 2026 (MXN) — cifras mensuales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22960" y="1600200"/>
            <a:ext cx="10543032" cy="365760"/>
          </a:xfrm>
          <a:prstGeom prst="rect">
            <a:avLst/>
          </a:prstGeom>
          <a:solidFill>
            <a:srgbClr val="F5F7F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51560" y="16002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 (medio tiempo)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503920" y="1600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$10,000 / mes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22960" y="1965960"/>
            <a:ext cx="10543032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51560" y="19659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 Backend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85039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$18,000 / mes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22960" y="2331720"/>
            <a:ext cx="10543032" cy="365760"/>
          </a:xfrm>
          <a:prstGeom prst="rect">
            <a:avLst/>
          </a:prstGeom>
          <a:solidFill>
            <a:srgbClr val="F5F7F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51560" y="23317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 Frontend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8503920" y="2331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$16,000 / mes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22960" y="2697480"/>
            <a:ext cx="10543032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51560" y="26974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Diseñador UI / UX (medio tiempo)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8503920" y="2697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$12,000 / mes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22960" y="3063240"/>
            <a:ext cx="10543032" cy="365760"/>
          </a:xfrm>
          <a:prstGeom prst="rect">
            <a:avLst/>
          </a:prstGeom>
          <a:solidFill>
            <a:srgbClr val="F5F7F5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051560" y="30632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Ingeniero de IA / Automatización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8503920" y="3063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$20,000 / mes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822960" y="3429000"/>
            <a:ext cx="10543032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1051560" y="34290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/ QA (medio tiempo)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8503920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$9,000 / mes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822960" y="3794760"/>
            <a:ext cx="10543032" cy="365760"/>
          </a:xfrm>
          <a:prstGeom prst="rect">
            <a:avLst/>
          </a:prstGeom>
          <a:solidFill>
            <a:srgbClr val="F5F7F5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1051560" y="37947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de servidor (CUValles)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8503920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Provisto — sin costo directo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822960" y="4160520"/>
            <a:ext cx="10543032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51560" y="41605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para inferencia local (Ollama)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8503920" y="4160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$25,000 pago único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822960" y="4526280"/>
            <a:ext cx="10543032" cy="365760"/>
          </a:xfrm>
          <a:prstGeom prst="rect">
            <a:avLst/>
          </a:prstGeom>
          <a:solidFill>
            <a:srgbClr val="F5F7F5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051560" y="4526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y SSL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8503920" y="4526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 / año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822960" y="5074920"/>
            <a:ext cx="10543032" cy="548640"/>
          </a:xfrm>
          <a:prstGeom prst="roundRect">
            <a:avLst>
              <a:gd name="adj" fmla="val 16667"/>
            </a:avLst>
          </a:prstGeom>
          <a:solidFill>
            <a:srgbClr val="7F5539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1051560" y="50749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Costo estimado del equipo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7589520" y="50749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$85,000 MXN / mes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822960" y="5696712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$1,020,000 MXN para el proyecto completo de 12 meses (solo equipo)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SMMyE  |  Baseline del Proyecto v1.0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645920"/>
            <a:ext cx="4572000" cy="4572000"/>
          </a:xfrm>
          <a:prstGeom prst="ellipse">
            <a:avLst/>
          </a:prstGeom>
          <a:solidFill>
            <a:srgbClr val="10281E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657600" cy="3657600"/>
          </a:xfrm>
          <a:prstGeom prst="ellipse">
            <a:avLst/>
          </a:prstGeom>
          <a:solidFill>
            <a:srgbClr val="10281E"/>
          </a:solidFill>
          <a:ln/>
        </p:spPr>
      </p:sp>
      <p:sp>
        <p:nvSpPr>
          <p:cNvPr id="4" name="Shape 2"/>
          <p:cNvSpPr/>
          <p:nvPr/>
        </p:nvSpPr>
        <p:spPr>
          <a:xfrm>
            <a:off x="5592928" y="1828800"/>
            <a:ext cx="1005840" cy="1005840"/>
          </a:xfrm>
          <a:prstGeom prst="ellipse">
            <a:avLst/>
          </a:prstGeom>
          <a:solidFill>
            <a:srgbClr val="95D5B2"/>
          </a:solidFill>
          <a:ln/>
        </p:spPr>
      </p:sp>
      <p:pic>
        <p:nvPicPr>
          <p:cNvPr id="5" name="Image 0" descr="C:\Users\Nacho Andrade\Desktop\Maestria en Ingeniería de Software\Tercer semestre\Configuracion del software\Baseline_Presentacion\icons\lea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3628" y="1949501"/>
            <a:ext cx="764438" cy="7644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0" y="306324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93192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hito: Plan SCM e Identificación de Configuración — Mes 2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39496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Ignacio Andrade Salazar   ·   ignacio.andrade2285@alumnos.udg.mx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2026-08-27T22:48:30Z</dcterms:created>
  <dcterms:modified xsi:type="dcterms:W3CDTF">2026-08-27T22:48:30Z</dcterms:modified>
</cp:coreProperties>
</file>