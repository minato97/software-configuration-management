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572000" cy="45720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5" name="Image 0" descr="C:\Users\Nacho Andrade\Desktop\Maestria en Ingeniería de Software\Tercer semestre\Configuracion del software\Baseline_Presentation\icons\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7845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594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SMMyE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Monitoreo Medioambiental y Edafológico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Región Valles, Jalisco, México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10543032" cy="18288"/>
          </a:xfrm>
          <a:prstGeom prst="rect">
            <a:avLst/>
          </a:prstGeom>
          <a:solidFill>
            <a:srgbClr val="2F51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la Configuración del Software — Posgrado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74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del Proyecto v1.0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Andrade Salazar — Project Manager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Importante?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3042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659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Región Valles carece de datos ambientales y edafológicos continuos y accesibles al público.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4290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39044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35661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Agricultores, investigadores y autoridades locales necesitan información comprensible en tiempo real, no solo registros crudos de sensores.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50292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97280" y="55046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51663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plataformas IoT existentes exponen datos, pero rara vez los explican en lenguaje natural.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37360"/>
            <a:ext cx="10543032" cy="155448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1945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evaluar una plataforma web que integra un agente inteligente (mediante MCP + LLM) para facilitar el acceso y comprensión de los datos técnicos generados por los nodos IoT del SMMyE a usuarios de distintos niveles de conocimiento en la Región Valles.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" y="4265676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24128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4005072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requerimientos funcionales y no funcionales (ERS)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91072" y="393192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4265676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0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31152" y="4005072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arquitectura escalable y segura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148072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4128" y="5481828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24128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221224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API REST, la plataforma web y el servidor MCP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91072" y="5148072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492240" y="5481828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92240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5221224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usabilidad con usuarios reales (meta: SUS ≥ 70)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EAF4EC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201168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C:\Users\Nacho Andrade\Desktop\Maestria en Ingeniería de Software\Tercer semestre\Configuracion del software\Baseline_Presentation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2072030"/>
            <a:ext cx="382219" cy="3822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del Alcance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almacenamiento continuo de datos de nodos IoT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3429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tiempo real: tablas, tarjetas, gráficos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estaciones, sensores y usuarios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051560" y="48006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chat en lenguaje natural — EcoFlow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inicial en nodos de CUValles, Región Valles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91072" y="17830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F3EBE4"/>
          </a:solidFill>
          <a:ln/>
        </p:spPr>
      </p:sp>
      <p:sp>
        <p:nvSpPr>
          <p:cNvPr id="16" name="Shape 12"/>
          <p:cNvSpPr/>
          <p:nvPr/>
        </p:nvSpPr>
        <p:spPr>
          <a:xfrm>
            <a:off x="6519672" y="2011680"/>
            <a:ext cx="502920" cy="502920"/>
          </a:xfrm>
          <a:prstGeom prst="ellipse">
            <a:avLst/>
          </a:prstGeom>
          <a:solidFill>
            <a:srgbClr val="F5F7F5"/>
          </a:solidFill>
          <a:ln/>
        </p:spPr>
      </p:sp>
      <p:pic>
        <p:nvPicPr>
          <p:cNvPr id="17" name="Image 2" descr="C:\Users\Nacho Andrade\Desktop\Maestria en Ingeniería de Software\Tercer semestre\Configuracion del software\Baseline_Presentation\icons\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2" y="2072030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59752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5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Alcance / Limitaciones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 actuación sobre dispositivos físicos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519672" y="3429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remota / configuración de hardware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519672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predictiva o pronósticos (trabajo futuro)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519672" y="48006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externas automatizadas (email/SMS)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519672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 / redundancia (un solo servidor)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Desarrollo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— ágil, iterativa, incremental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691640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8" name="Shape 5"/>
          <p:cNvSpPr/>
          <p:nvPr/>
        </p:nvSpPr>
        <p:spPr>
          <a:xfrm>
            <a:off x="1024128" y="1837944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tion\icons\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1903781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Scrum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17830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iterativa e incremental en vez de una sola entrega final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2660904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2807208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tion\icons\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2873045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28800" y="2752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5212080" y="275234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priorizadas, cada una trazable a un requerimiento (RF-xx)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3630168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18" name="Shape 13"/>
          <p:cNvSpPr/>
          <p:nvPr/>
        </p:nvSpPr>
        <p:spPr>
          <a:xfrm>
            <a:off x="1024128" y="3776472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tion\icons\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5" y="3842309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828800" y="37216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37216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sprints fijos de 2 semanas a lo largo del plan de 12 meses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22960" y="4599432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4128" y="4745736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tion\icons\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5" y="4811573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828800" y="46908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Points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5212080" y="46908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relativa con escala Fibonacci para planeación y velocidad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22960" y="5568696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28" name="Shape 21"/>
          <p:cNvSpPr/>
          <p:nvPr/>
        </p:nvSpPr>
        <p:spPr>
          <a:xfrm>
            <a:off x="1024128" y="5715000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tion\icons\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965" y="5780837"/>
            <a:ext cx="416966" cy="41696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828800" y="56601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y Retrospectiva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5212080" y="566013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cierra con una demo y una retrospectiva del proceso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capas desacopladas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691640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8" name="Shape 5"/>
          <p:cNvSpPr/>
          <p:nvPr/>
        </p:nvSpPr>
        <p:spPr>
          <a:xfrm>
            <a:off x="1024128" y="1837944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tion\icons\raspberry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1903781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Adquisición (IoT)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17830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Raspberry Pi 5 con sensores medioambientales y edafológicos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2660904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2807208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tion\icons\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2873045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28800" y="2752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Lógica de Negocio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5212080" y="275234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 Laravel 10 con autenticación JWT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3630168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18" name="Shape 13"/>
          <p:cNvSpPr/>
          <p:nvPr/>
        </p:nvSpPr>
        <p:spPr>
          <a:xfrm>
            <a:off x="1024128" y="3776472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tion\icons\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5" y="3842309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828800" y="37216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Datos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37216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almacenamiento relacional de todo el sistema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22960" y="4599432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4128" y="4745736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tion\icons\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5" y="4811573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828800" y="46908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Presentación (SPA)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5212080" y="46908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— monitoreo, estadísticas, administración y reportes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22960" y="5568696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28" name="Shape 21"/>
          <p:cNvSpPr/>
          <p:nvPr/>
        </p:nvSpPr>
        <p:spPr>
          <a:xfrm>
            <a:off x="1024128" y="5715000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tion\icons\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965" y="5780837"/>
            <a:ext cx="416966" cy="41696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828800" y="56601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Inteligencia Conversacional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5212080" y="566013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servidor MCP + Ollama (LLM local)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raspberry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Sensores IoT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provisto e instalado por CUValles — replicable a otras regiones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2082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tion\icons\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350008"/>
            <a:ext cx="694944" cy="6949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Aire y Clima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· Humedad · Presión · CO₂ · Material particulado · Lluvia · Velocidad y dirección del viento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3484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3270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tion\icons\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350008"/>
            <a:ext cx="694944" cy="6949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Radiación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Radiación UV · Intensidad de luz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4458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tion\icons\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350008"/>
            <a:ext cx="694944" cy="6949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Suelo (Edafológico)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36676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Nitrógeno (N) · Fósforo (P) · Potasio (K)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tool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915668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C:\Users\Nacho Andrade\Desktop\Maestria en Ingeniería de Software\Tercer semestre\Configuracion del software\Baseline_Presentation\icons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88" y="1977116"/>
            <a:ext cx="389169" cy="3891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56232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1856232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+ Laravel 10, autenticación JWT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2706624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AF0EA"/>
          </a:solidFill>
          <a:ln/>
        </p:spPr>
      </p:sp>
      <p:sp>
        <p:nvSpPr>
          <p:cNvPr id="12" name="Shape 8"/>
          <p:cNvSpPr/>
          <p:nvPr/>
        </p:nvSpPr>
        <p:spPr>
          <a:xfrm>
            <a:off x="1005840" y="2839212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2" descr="C:\Users\Nacho Andrade\Desktop\Maestria en Ingeniería de Software\Tercer semestre\Configuracion del software\Baseline_Presentation\icons\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88" y="2900660"/>
            <a:ext cx="389169" cy="3891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2779776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2779776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630168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5840" y="3762756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3" descr="C:\Users\Nacho Andrade\Desktop\Maestria en Ingeniería de Software\Tercer semestre\Configuracion del software\Baseline_Presentation\icons\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288" y="3824204"/>
            <a:ext cx="389169" cy="3891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3703320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754880" y="3703320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Pinia + Tailwind CSS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4553712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AF0EA"/>
          </a:solidFill>
          <a:ln/>
        </p:spPr>
      </p:sp>
      <p:sp>
        <p:nvSpPr>
          <p:cNvPr id="22" name="Shape 16"/>
          <p:cNvSpPr/>
          <p:nvPr/>
        </p:nvSpPr>
        <p:spPr>
          <a:xfrm>
            <a:off x="1005840" y="4686300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C:\Users\Nacho Andrade\Desktop\Maestria en Ingeniería de Software\Tercer semestre\Configuracion del software\Baseline_Presentation\icons\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8" y="4747748"/>
            <a:ext cx="389169" cy="38916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83080" y="4626864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/ Chat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754880" y="4626864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n8n + servidor MCP + Ollama (LLM local)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22960" y="5477256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27" name="Shape 20"/>
          <p:cNvSpPr/>
          <p:nvPr/>
        </p:nvSpPr>
        <p:spPr>
          <a:xfrm>
            <a:off x="1005840" y="5609844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8" name="Image 5" descr="C:\Users\Nacho Andrade\Desktop\Maestria en Ingeniería de Software\Tercer semestre\Configuracion del software\Baseline_Presentation\icons\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88" y="5671292"/>
            <a:ext cx="389169" cy="38916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783080" y="5550408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754880" y="5550408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 + Nginx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3" name="Image 0" descr="C:\Users\Nacho Andrade\Desktop\Maestria en Ingeniería de Software\Tercer semestre\Configuracion del software\Baseline_Presentation\icons\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EcoFlow — El Asistente Conversacional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91640" y="2880360"/>
            <a:ext cx="8805672" cy="0"/>
          </a:xfrm>
          <a:prstGeom prst="line">
            <a:avLst/>
          </a:prstGeom>
          <a:noFill/>
          <a:ln w="25400">
            <a:solidFill>
              <a:srgbClr val="95D5B2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88720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7" name="Image 1" descr="C:\Users\Nacho Andrade\Desktop\Maestria en Ingeniería de Software\Tercer semestre\Configuracion del software\Baseline_Presentation\icons\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1" y="2498141"/>
            <a:ext cx="764438" cy="7644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hace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pregunta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390138" y="2377440"/>
            <a:ext cx="1005840" cy="1005840"/>
          </a:xfrm>
          <a:prstGeom prst="ellipse">
            <a:avLst/>
          </a:prstGeom>
          <a:solidFill>
            <a:srgbClr val="2F5D45"/>
          </a:solidFill>
          <a:ln/>
        </p:spPr>
      </p:sp>
      <p:pic>
        <p:nvPicPr>
          <p:cNvPr id="10" name="Image 2" descr="C:\Users\Nacho Andrade\Desktop\Maestria en Ingeniería de Software\Tercer semestre\Configuracion del software\Baseline_Presentation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839" y="2498141"/>
            <a:ext cx="764438" cy="7644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87218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591556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3" name="Image 3" descr="C:\Users\Nacho Andrade\Desktop\Maestria en Ingeniería de Software\Tercer semestre\Configuracion del software\Baseline_Presentation\icons\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257" y="2498141"/>
            <a:ext cx="764438" cy="7644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088636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herramienta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7792974" y="2377440"/>
            <a:ext cx="1005840" cy="1005840"/>
          </a:xfrm>
          <a:prstGeom prst="ellipse">
            <a:avLst/>
          </a:prstGeom>
          <a:solidFill>
            <a:srgbClr val="2F5D45"/>
          </a:solidFill>
          <a:ln/>
        </p:spPr>
      </p:sp>
      <p:pic>
        <p:nvPicPr>
          <p:cNvPr id="16" name="Image 4" descr="C:\Users\Nacho Andrade\Desktop\Maestria en Ingeniería de Software\Tercer semestre\Configuracion del software\Baseline_Presentation\icons\tool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675" y="2498141"/>
            <a:ext cx="764438" cy="7644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290054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datos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9994392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5" descr="C:\Users\Nacho Andrade\Desktop\Maestria en Ingeniería de Software\Tercer semestre\Configuracion del software\Baseline_Presentation\icons\comme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5093" y="2498141"/>
            <a:ext cx="764438" cy="76443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491472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1280160" y="5212080"/>
            <a:ext cx="9628632" cy="822960"/>
          </a:xfrm>
          <a:prstGeom prst="roundRect">
            <a:avLst>
              <a:gd name="adj" fmla="val 11111"/>
            </a:avLst>
          </a:prstGeom>
          <a:solidFill>
            <a:srgbClr val="10281E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1554480" y="5212080"/>
            <a:ext cx="9079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nunca accede directamente a la base de datos — toda consulta pasa por herramientas MCP de solo lectura.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 — Historias de Usuario (muestra)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historias de usuario · 66 story points en total — backlog completo en el documento Baseline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F5F7F5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1984248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198424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US-01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1856232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usuario, quiero iniciar sesión con mis credenciales, para acceder a las funciones de mi rol.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921240" y="1965960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92124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2715768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EAF0EA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2916936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0120" y="291693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US-06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920240" y="2788920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administrador, quiero registrar sensores con umbrales de clasificación, para que las lecturas se marquen automáticamente.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921240" y="2898648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921240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" y="3648456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F5F7F5"/>
          </a:solidFill>
          <a:ln/>
        </p:spPr>
      </p:sp>
      <p:sp>
        <p:nvSpPr>
          <p:cNvPr id="20" name="Shape 17"/>
          <p:cNvSpPr/>
          <p:nvPr/>
        </p:nvSpPr>
        <p:spPr>
          <a:xfrm>
            <a:off x="960120" y="384962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60120" y="38496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US-09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920240" y="3721608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usuario, quiero ver la última lectura de cada estación en tiempo real, para monitorear las condiciones actuales.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921240" y="3831336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921240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2960" y="4581144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EAF0EA"/>
          </a:solidFill>
          <a:ln/>
        </p:spPr>
      </p:sp>
      <p:sp>
        <p:nvSpPr>
          <p:cNvPr id="26" name="Shape 23"/>
          <p:cNvSpPr/>
          <p:nvPr/>
        </p:nvSpPr>
        <p:spPr>
          <a:xfrm>
            <a:off x="960120" y="4782312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0120" y="478231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US-12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920240" y="4654296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usuario, quiero chatear con EcoFlow en lenguaje natural, para entender los datos ambientales sin conocimiento técnico.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921240" y="4764024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921240" y="4764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22960" y="5513832"/>
            <a:ext cx="10543032" cy="841248"/>
          </a:xfrm>
          <a:prstGeom prst="roundRect">
            <a:avLst>
              <a:gd name="adj" fmla="val 8696"/>
            </a:avLst>
          </a:prstGeom>
          <a:solidFill>
            <a:srgbClr val="F5F7F5"/>
          </a:solidFill>
          <a:ln/>
        </p:spPr>
      </p:sp>
      <p:sp>
        <p:nvSpPr>
          <p:cNvPr id="32" name="Shape 29"/>
          <p:cNvSpPr/>
          <p:nvPr/>
        </p:nvSpPr>
        <p:spPr>
          <a:xfrm>
            <a:off x="960120" y="5715000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0120" y="57150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US-13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920240" y="5586984"/>
            <a:ext cx="7818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sistema, quiero que EcoFlow consulte datos solo mediante herramientas MCP de solo lectura, para que el LLM nunca toque la base de datos directamente.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921240" y="5696712"/>
            <a:ext cx="475488" cy="47548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921240" y="5696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definidos para este ejercicio del curso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67206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tion\icons\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988" y="2300630"/>
            <a:ext cx="555955" cy="55595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6112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Ignacio Andrade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Líder SCM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07564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1810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tion\icons\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592" y="2300630"/>
            <a:ext cx="555955" cy="55595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80716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Desarrollador Backend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2717292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· Fullstack (Laravel/Vue)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92168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36414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tion\icons\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196" y="2300630"/>
            <a:ext cx="555955" cy="55595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65320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Desarrollador Frontend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501896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· SPA en Vue 3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176772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21018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tion\icons\paintbr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800" y="2300630"/>
            <a:ext cx="555955" cy="55595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49924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Diseñador UI / UX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6286500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· Sistema de diseño UX/UI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961376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405622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tion\icons\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404" y="2300630"/>
            <a:ext cx="555955" cy="55595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034528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 de IA / Automatización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8071104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· n8n, MCP, Ollama, RAG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9745980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190226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4" name="Image 6" descr="C:\Users\Nacho Andrade\Desktop\Maestria en Ingeniería de Software\Tercer semestre\Configuracion del software\Baseline_Presentation\icons\toolbo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8008" y="2300630"/>
            <a:ext cx="555955" cy="55595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819132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/ QA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9855708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· Docker, pruebas, auditorías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26 sprints de dos semanas en 12 meses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525089" y="2468880"/>
            <a:ext cx="9138775" cy="0"/>
          </a:xfrm>
          <a:prstGeom prst="line">
            <a:avLst/>
          </a:prstGeom>
          <a:noFill/>
          <a:ln w="25400">
            <a:solidFill>
              <a:srgbClr val="CBD9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9913" y="2103120"/>
            <a:ext cx="530352" cy="530352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59913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3EB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7824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1–2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(Semanas 1–4)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83042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8304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346089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400953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SCM 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Ident. de Config.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2400953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3–4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(Semanas 5–8)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306171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06171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869218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924082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Diseño UX/UI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3924082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5–8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(Semanas 9–16)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29300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2930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392347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47211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447211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9–17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(Semanas 17–34)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352429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352429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915477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70341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970341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18–21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(Semanas 35–42)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875558" y="2103120"/>
            <a:ext cx="530352" cy="530352"/>
          </a:xfrm>
          <a:prstGeom prst="ellipse">
            <a:avLst/>
          </a:prstGeom>
          <a:solidFill>
            <a:srgbClr val="95D5B2"/>
          </a:solidFill>
          <a:ln/>
        </p:spPr>
      </p:sp>
      <p:pic>
        <p:nvPicPr>
          <p:cNvPr id="34" name="Image 1" descr="C:\Users\Nacho Andrade\Desktop\Maestria en Ingeniería de Software\Tercer semestre\Configuracion del software\Baseline_Presentation\icons\hour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86" y="2212848"/>
            <a:ext cx="310896" cy="31089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8438606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BF6E9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493470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Contingencia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8493470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22–25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(Semanas 43–50)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10398687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398687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9961735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016599" y="3017520"/>
            <a:ext cx="129452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Liberación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10016599" y="4892040"/>
            <a:ext cx="1294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26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(Semanas 51–52)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moneyb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de Equipo e Infraestructura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con precios promedio de mercado en México, 2026 (MXN) — todo tiene costo, nada es gratis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60020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515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(medio tiempo)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/ mes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196596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Backend — Senior, Fullstack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$28,000 / mes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233172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Frontend — Junior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$14,000 / mes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269748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UI / UX — Medio, medio tiempo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 / mes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" y="306324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5156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IA / Automatización — Senior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 / mes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342900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5156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QA — Junior, medio tiempo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 / mes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5156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de servidor (VPS Docker + GPU)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 / mes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22960" y="416052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156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para inferencia local (Ollama)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5039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 pago único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22960" y="452628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156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y SSL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85039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/ año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22960" y="5120640"/>
            <a:ext cx="10543032" cy="594360"/>
          </a:xfrm>
          <a:prstGeom prst="roundRect">
            <a:avLst>
              <a:gd name="adj" fmla="val 15385"/>
            </a:avLst>
          </a:prstGeom>
          <a:solidFill>
            <a:srgbClr val="7F553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51560" y="5120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base del proyecto (12 meses)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589520" y="5120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$1,285,500 MXN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tion\icons\per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36210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Margen de Utilidad y Presupuesto Total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un margen del 15% tanto al costo como al cronograma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965960"/>
            <a:ext cx="3310128" cy="2377440"/>
          </a:xfrm>
          <a:prstGeom prst="roundRect">
            <a:avLst>
              <a:gd name="adj" fmla="val 5385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2240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BASE DEL PROYECTO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803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$1,285,500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4434840" y="1965960"/>
            <a:ext cx="3310128" cy="2377440"/>
          </a:xfrm>
          <a:prstGeom prst="roundRect">
            <a:avLst>
              <a:gd name="adj" fmla="val 5385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17720" y="2240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UTILIDAD (15%)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8803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$192,825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8046720" y="1965960"/>
            <a:ext cx="3310128" cy="2377440"/>
          </a:xfrm>
          <a:prstGeom prst="roundRect">
            <a:avLst>
              <a:gd name="adj" fmla="val 5385"/>
            </a:avLst>
          </a:prstGeom>
          <a:solidFill>
            <a:srgbClr val="1B433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0" y="2240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TOTAL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28803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$1,478,325</a:t>
            </a:r>
            <a:endParaRPr lang="en-US" sz="2700" dirty="0"/>
          </a:p>
        </p:txBody>
      </p:sp>
      <p:sp>
        <p:nvSpPr>
          <p:cNvPr id="16" name="Shape 13"/>
          <p:cNvSpPr/>
          <p:nvPr/>
        </p:nvSpPr>
        <p:spPr>
          <a:xfrm>
            <a:off x="822960" y="4617720"/>
            <a:ext cx="10543032" cy="1005840"/>
          </a:xfrm>
          <a:prstGeom prst="roundRect">
            <a:avLst>
              <a:gd name="adj" fmla="val 9091"/>
            </a:avLst>
          </a:prstGeom>
          <a:solidFill>
            <a:srgbClr val="F3EBE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43000" y="461772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cronograma: 4 de 26 sprints (≈15%) se reservan explícitamente como contingencia (Sprints 22–25) — el mismo margen aplicado al costo se aplica al tiempo.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572000" cy="45720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solidFill>
            <a:srgbClr val="95D5B2"/>
          </a:solidFill>
          <a:ln/>
        </p:spPr>
      </p:sp>
      <p:pic>
        <p:nvPicPr>
          <p:cNvPr id="5" name="Image 0" descr="C:\Users\Nacho Andrade\Desktop\Maestria en Ingeniería de Software\Tercer semestre\Configuracion del software\Baseline_Presentation\icons\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28" y="194950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hito: Plan SCM e Identificación de Configuración — Sprints 3–4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949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Andrade Salazar   ·   ignacio.andrade2285@alumnos.udg.mx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2026-09-03T17:20:14Z</dcterms:created>
  <dcterms:modified xsi:type="dcterms:W3CDTF">2026-09-03T17:20:14Z</dcterms:modified>
</cp:coreProperties>
</file>