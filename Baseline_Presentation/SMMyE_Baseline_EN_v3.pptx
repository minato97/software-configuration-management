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1.png"/><Relationship Id="rId5" Type="http://schemas.openxmlformats.org/officeDocument/2006/relationships/image" Target="../media/image-9-5.png"/><Relationship Id="rId6" Type="http://schemas.openxmlformats.org/officeDocument/2006/relationships/image" Target="../media/image-9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645920"/>
            <a:ext cx="4572000" cy="4572000"/>
          </a:xfrm>
          <a:prstGeom prst="ellipse">
            <a:avLst/>
          </a:prstGeom>
          <a:solidFill>
            <a:srgbClr val="10281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10281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822960" cy="82296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5" name="Image 0" descr="C:\Users\Nacho Andrade\Desktop\Maestria en Ingeniería de Software\Tercer semestre\Configuracion del software\Baseline_Presentation\icons\seedl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784555"/>
            <a:ext cx="625450" cy="6254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5943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SMMyE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1488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 and Soil Monitoring System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803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Región Valles, Jalisco, Mexico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4480560"/>
            <a:ext cx="10543032" cy="18288"/>
          </a:xfrm>
          <a:prstGeom prst="rect">
            <a:avLst/>
          </a:prstGeom>
          <a:solidFill>
            <a:srgbClr val="2F513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47091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Configuration Management — Graduate Program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50749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Baseline v1.0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5806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Ignacio Andrade Salazar — Project Manager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61081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tion\icons\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36210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38404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828800"/>
            <a:ext cx="10543032" cy="1280160"/>
          </a:xfrm>
          <a:prstGeom prst="roundRect">
            <a:avLst>
              <a:gd name="adj" fmla="val 8571"/>
            </a:avLst>
          </a:prstGeom>
          <a:solidFill>
            <a:srgbClr val="F5F7F5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97280" y="2304288"/>
            <a:ext cx="329184" cy="32918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97280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691640" y="196596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Región Valles lacks continuous, publicly accessible environmental and soil data.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3429000"/>
            <a:ext cx="10543032" cy="1280160"/>
          </a:xfrm>
          <a:prstGeom prst="roundRect">
            <a:avLst>
              <a:gd name="adj" fmla="val 8571"/>
            </a:avLst>
          </a:prstGeom>
          <a:solidFill>
            <a:srgbClr val="F5F7F5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97280" y="3904488"/>
            <a:ext cx="329184" cy="32918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97280" y="3904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691640" y="356616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Farmers, researchers and local authorities need real-time insight they can actually understand — not raw sensor logs.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22960" y="5029200"/>
            <a:ext cx="10543032" cy="1280160"/>
          </a:xfrm>
          <a:prstGeom prst="roundRect">
            <a:avLst>
              <a:gd name="adj" fmla="val 8571"/>
            </a:avLst>
          </a:prstGeom>
          <a:solidFill>
            <a:srgbClr val="F5F7F5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097280" y="5504688"/>
            <a:ext cx="329184" cy="32918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97280" y="5504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691640" y="516636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IoT monitoring platforms expose data, but rarely explain it in plain language.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Project Baseline v1.0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tion\icons\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36210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38404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737360"/>
            <a:ext cx="10543032" cy="1554480"/>
          </a:xfrm>
          <a:prstGeom prst="roundRect">
            <a:avLst>
              <a:gd name="adj" fmla="val 7059"/>
            </a:avLst>
          </a:prstGeom>
          <a:solidFill>
            <a:srgbClr val="1B433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97280" y="1874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OBJECTIVE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1945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and evaluate a web platform that integrates an AI agent (via MCP + LLM) to make the technical data produced by SMMyE's IoT nodes accessible and understandable to users of every technical level in the Región Valles.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F5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OBJECTIVES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3931920"/>
            <a:ext cx="5074920" cy="960120"/>
          </a:xfrm>
          <a:prstGeom prst="roundRect">
            <a:avLst>
              <a:gd name="adj" fmla="val 9524"/>
            </a:avLst>
          </a:prstGeom>
          <a:solidFill>
            <a:srgbClr val="F5F7F5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128" y="4265676"/>
            <a:ext cx="292608" cy="292608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24128" y="42656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4005072"/>
            <a:ext cx="42519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functional &amp; non-functional requirements (SRS)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91072" y="3931920"/>
            <a:ext cx="5074920" cy="960120"/>
          </a:xfrm>
          <a:prstGeom prst="roundRect">
            <a:avLst>
              <a:gd name="adj" fmla="val 9524"/>
            </a:avLst>
          </a:prstGeom>
          <a:solidFill>
            <a:srgbClr val="F5F7F5"/>
          </a:solidFill>
          <a:ln/>
        </p:spPr>
      </p:sp>
      <p:sp>
        <p:nvSpPr>
          <p:cNvPr id="15" name="Shape 12"/>
          <p:cNvSpPr/>
          <p:nvPr/>
        </p:nvSpPr>
        <p:spPr>
          <a:xfrm>
            <a:off x="6492240" y="4265676"/>
            <a:ext cx="292608" cy="292608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92240" y="42656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931152" y="4005072"/>
            <a:ext cx="42519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scalable, secure system architecture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22960" y="5148072"/>
            <a:ext cx="5074920" cy="960120"/>
          </a:xfrm>
          <a:prstGeom prst="roundRect">
            <a:avLst>
              <a:gd name="adj" fmla="val 9524"/>
            </a:avLst>
          </a:prstGeom>
          <a:solidFill>
            <a:srgbClr val="F5F7F5"/>
          </a:solidFill>
          <a:ln/>
        </p:spPr>
      </p:sp>
      <p:sp>
        <p:nvSpPr>
          <p:cNvPr id="19" name="Shape 16"/>
          <p:cNvSpPr/>
          <p:nvPr/>
        </p:nvSpPr>
        <p:spPr>
          <a:xfrm>
            <a:off x="1024128" y="5481828"/>
            <a:ext cx="292608" cy="292608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24128" y="54818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5221224"/>
            <a:ext cx="42519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REST API, web platform and MCP server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291072" y="5148072"/>
            <a:ext cx="5074920" cy="960120"/>
          </a:xfrm>
          <a:prstGeom prst="roundRect">
            <a:avLst>
              <a:gd name="adj" fmla="val 9524"/>
            </a:avLst>
          </a:prstGeom>
          <a:solidFill>
            <a:srgbClr val="F5F7F5"/>
          </a:solidFill>
          <a:ln/>
        </p:spPr>
      </p:sp>
      <p:sp>
        <p:nvSpPr>
          <p:cNvPr id="23" name="Shape 20"/>
          <p:cNvSpPr/>
          <p:nvPr/>
        </p:nvSpPr>
        <p:spPr>
          <a:xfrm>
            <a:off x="6492240" y="5481828"/>
            <a:ext cx="292608" cy="292608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492240" y="54818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931152" y="5221224"/>
            <a:ext cx="42519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usability with real users (target SUS score ≥ 70)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Project Baseline v1.0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tion\icons\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36210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38404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783080"/>
            <a:ext cx="5074920" cy="4617720"/>
          </a:xfrm>
          <a:prstGeom prst="roundRect">
            <a:avLst>
              <a:gd name="adj" fmla="val 2376"/>
            </a:avLst>
          </a:prstGeom>
          <a:solidFill>
            <a:srgbClr val="EAF4EC"/>
          </a:solidFill>
          <a:ln/>
        </p:spPr>
      </p:sp>
      <p:sp>
        <p:nvSpPr>
          <p:cNvPr id="7" name="Shape 4"/>
          <p:cNvSpPr/>
          <p:nvPr/>
        </p:nvSpPr>
        <p:spPr>
          <a:xfrm>
            <a:off x="1051560" y="201168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8" name="Image 1" descr="C:\Users\Nacho Andrade\Desktop\Maestria en Ingeniería de Software\Tercer semestre\Configuracion del software\Baseline_Presentation\icons\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" y="2072030"/>
            <a:ext cx="382219" cy="38221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20756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051560" y="27432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data reception &amp; storage from IoT nodes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1051560" y="34290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visualization: tables, cards, charts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051560" y="41148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Station, sensor &amp; user administration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1051560" y="48006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chat assistant — EcoFlow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1051560" y="54864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deployment on CUValles nodes, Región Valles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291072" y="1783080"/>
            <a:ext cx="5074920" cy="4617720"/>
          </a:xfrm>
          <a:prstGeom prst="roundRect">
            <a:avLst>
              <a:gd name="adj" fmla="val 2376"/>
            </a:avLst>
          </a:prstGeom>
          <a:solidFill>
            <a:srgbClr val="F3EBE4"/>
          </a:solidFill>
          <a:ln/>
        </p:spPr>
      </p:sp>
      <p:sp>
        <p:nvSpPr>
          <p:cNvPr id="16" name="Shape 12"/>
          <p:cNvSpPr/>
          <p:nvPr/>
        </p:nvSpPr>
        <p:spPr>
          <a:xfrm>
            <a:off x="6519672" y="2011680"/>
            <a:ext cx="502920" cy="502920"/>
          </a:xfrm>
          <a:prstGeom prst="ellipse">
            <a:avLst/>
          </a:prstGeom>
          <a:solidFill>
            <a:srgbClr val="F5F7F5"/>
          </a:solidFill>
          <a:ln/>
        </p:spPr>
      </p:sp>
      <p:pic>
        <p:nvPicPr>
          <p:cNvPr id="17" name="Image 2" descr="C:\Users\Nacho Andrade\Desktop\Maestria en Ingeniería de Software\Tercer semestre\Configuracion del software\Baseline_Presentation\icons\tim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022" y="2072030"/>
            <a:ext cx="382219" cy="382219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159752" y="20756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55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 / Limitations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519672" y="27432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✗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device control or actuation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6519672" y="34290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✗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sensor calibration / hardware config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6519672" y="41148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✗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or forecasting (future work)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6519672" y="48006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✗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external notifications (email/SMS)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6519672" y="54864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✗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/ redundancy (single server)</a:t>
            </a:r>
            <a:endParaRPr lang="en-US" sz="1250" dirty="0"/>
          </a:p>
        </p:txBody>
      </p:sp>
      <p:sp>
        <p:nvSpPr>
          <p:cNvPr id="24" name="Text 1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Project Baseline v1.0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tion\icons\sy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36210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Methodology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777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— agile, iterative, incremental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22960" y="1691640"/>
            <a:ext cx="10543032" cy="841248"/>
          </a:xfrm>
          <a:prstGeom prst="roundRect">
            <a:avLst>
              <a:gd name="adj" fmla="val 10870"/>
            </a:avLst>
          </a:prstGeom>
          <a:solidFill>
            <a:srgbClr val="1B4332"/>
          </a:solidFill>
          <a:ln/>
        </p:spPr>
      </p:sp>
      <p:sp>
        <p:nvSpPr>
          <p:cNvPr id="8" name="Shape 5"/>
          <p:cNvSpPr/>
          <p:nvPr/>
        </p:nvSpPr>
        <p:spPr>
          <a:xfrm>
            <a:off x="1024128" y="1837944"/>
            <a:ext cx="548640" cy="5486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9" name="Image 1" descr="C:\Users\Nacho Andrade\Desktop\Maestria en Ingeniería de Software\Tercer semestre\Configuracion del software\Baseline_Presentation\icons\syn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5" y="1903781"/>
            <a:ext cx="416966" cy="4169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828800" y="17830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framework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5212080" y="178308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and incremental delivery instead of a single big-bang release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22960" y="2660904"/>
            <a:ext cx="10543032" cy="841248"/>
          </a:xfrm>
          <a:prstGeom prst="roundRect">
            <a:avLst>
              <a:gd name="adj" fmla="val 10870"/>
            </a:avLst>
          </a:prstGeom>
          <a:solidFill>
            <a:srgbClr val="2F5D45"/>
          </a:solidFill>
          <a:ln/>
        </p:spPr>
      </p:sp>
      <p:sp>
        <p:nvSpPr>
          <p:cNvPr id="13" name="Shape 9"/>
          <p:cNvSpPr/>
          <p:nvPr/>
        </p:nvSpPr>
        <p:spPr>
          <a:xfrm>
            <a:off x="1024128" y="2807208"/>
            <a:ext cx="548640" cy="5486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14" name="Image 2" descr="C:\Users\Nacho Andrade\Desktop\Maestria en Ingeniería de Software\Tercer semestre\Configuracion del software\Baseline_Presentation\icons\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965" y="2873045"/>
            <a:ext cx="416966" cy="41696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828800" y="275234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Backlog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5212080" y="2752344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User Stories, each traceable to a functional requirement (RF-xx)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22960" y="3630168"/>
            <a:ext cx="10543032" cy="841248"/>
          </a:xfrm>
          <a:prstGeom prst="roundRect">
            <a:avLst>
              <a:gd name="adj" fmla="val 10870"/>
            </a:avLst>
          </a:prstGeom>
          <a:solidFill>
            <a:srgbClr val="1B4332"/>
          </a:solidFill>
          <a:ln/>
        </p:spPr>
      </p:sp>
      <p:sp>
        <p:nvSpPr>
          <p:cNvPr id="18" name="Shape 13"/>
          <p:cNvSpPr/>
          <p:nvPr/>
        </p:nvSpPr>
        <p:spPr>
          <a:xfrm>
            <a:off x="1024128" y="3776472"/>
            <a:ext cx="548640" cy="5486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19" name="Image 3" descr="C:\Users\Nacho Andrade\Desktop\Maestria en Ingeniería de Software\Tercer semestre\Configuracion del software\Baseline_Presentation\icons\calend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965" y="3842309"/>
            <a:ext cx="416966" cy="41696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828800" y="372160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Sprints</a:t>
            </a:r>
            <a:endParaRPr lang="en-US" sz="1450" dirty="0"/>
          </a:p>
        </p:txBody>
      </p:sp>
      <p:sp>
        <p:nvSpPr>
          <p:cNvPr id="21" name="Text 15"/>
          <p:cNvSpPr txBox="1"/>
          <p:nvPr/>
        </p:nvSpPr>
        <p:spPr>
          <a:xfrm>
            <a:off x="5212080" y="372160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fixed 2-week sprints across the 12-month plan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822960" y="4599432"/>
            <a:ext cx="10543032" cy="841248"/>
          </a:xfrm>
          <a:prstGeom prst="roundRect">
            <a:avLst>
              <a:gd name="adj" fmla="val 10870"/>
            </a:avLst>
          </a:prstGeom>
          <a:solidFill>
            <a:srgbClr val="2F5D45"/>
          </a:solidFill>
          <a:ln/>
        </p:spPr>
      </p:sp>
      <p:sp>
        <p:nvSpPr>
          <p:cNvPr id="23" name="Shape 17"/>
          <p:cNvSpPr/>
          <p:nvPr/>
        </p:nvSpPr>
        <p:spPr>
          <a:xfrm>
            <a:off x="1024128" y="4745736"/>
            <a:ext cx="548640" cy="5486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24" name="Image 4" descr="C:\Users\Nacho Andrade\Desktop\Maestria en Ingeniería de Software\Tercer semestre\Configuracion del software\Baseline_Presentation\icons\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965" y="4811573"/>
            <a:ext cx="416966" cy="41696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828800" y="469087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 Points</a:t>
            </a:r>
            <a:endParaRPr lang="en-US" sz="1450" dirty="0"/>
          </a:p>
        </p:txBody>
      </p:sp>
      <p:sp>
        <p:nvSpPr>
          <p:cNvPr id="26" name="Text 19"/>
          <p:cNvSpPr txBox="1"/>
          <p:nvPr/>
        </p:nvSpPr>
        <p:spPr>
          <a:xfrm>
            <a:off x="5212080" y="4690872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Fibonacci-scale relative sizing used for sprint planning and velocity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822960" y="5568696"/>
            <a:ext cx="10543032" cy="841248"/>
          </a:xfrm>
          <a:prstGeom prst="roundRect">
            <a:avLst>
              <a:gd name="adj" fmla="val 10870"/>
            </a:avLst>
          </a:prstGeom>
          <a:solidFill>
            <a:srgbClr val="1B4332"/>
          </a:solidFill>
          <a:ln/>
        </p:spPr>
      </p:sp>
      <p:sp>
        <p:nvSpPr>
          <p:cNvPr id="28" name="Shape 21"/>
          <p:cNvSpPr/>
          <p:nvPr/>
        </p:nvSpPr>
        <p:spPr>
          <a:xfrm>
            <a:off x="1024128" y="5715000"/>
            <a:ext cx="548640" cy="5486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29" name="Image 5" descr="C:\Users\Nacho Andrade\Desktop\Maestria en Ingeniería de Software\Tercer semestre\Configuracion del software\Baseline_Presentation\icons\netwo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9965" y="5780837"/>
            <a:ext cx="416966" cy="41696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828800" y="566013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&amp; Retrospective</a:t>
            </a:r>
            <a:endParaRPr lang="en-US" sz="1450" dirty="0"/>
          </a:p>
        </p:txBody>
      </p:sp>
      <p:sp>
        <p:nvSpPr>
          <p:cNvPr id="31" name="Text 23"/>
          <p:cNvSpPr txBox="1"/>
          <p:nvPr/>
        </p:nvSpPr>
        <p:spPr>
          <a:xfrm>
            <a:off x="5212080" y="5660136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sprint ends with a demo and a process retrospective</a:t>
            </a:r>
            <a:endParaRPr lang="en-US" sz="1250" dirty="0"/>
          </a:p>
        </p:txBody>
      </p:sp>
      <p:sp>
        <p:nvSpPr>
          <p:cNvPr id="32" name="Text 2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Project Baseline v1.0</a:t>
            </a:r>
            <a:endParaRPr lang="en-US" sz="900" dirty="0"/>
          </a:p>
        </p:txBody>
      </p:sp>
      <p:sp>
        <p:nvSpPr>
          <p:cNvPr id="33" name="Text 2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tion\icons\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36210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777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decoupled layers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22960" y="1691640"/>
            <a:ext cx="10543032" cy="841248"/>
          </a:xfrm>
          <a:prstGeom prst="roundRect">
            <a:avLst>
              <a:gd name="adj" fmla="val 10870"/>
            </a:avLst>
          </a:prstGeom>
          <a:solidFill>
            <a:srgbClr val="1B4332"/>
          </a:solidFill>
          <a:ln/>
        </p:spPr>
      </p:sp>
      <p:sp>
        <p:nvSpPr>
          <p:cNvPr id="8" name="Shape 5"/>
          <p:cNvSpPr/>
          <p:nvPr/>
        </p:nvSpPr>
        <p:spPr>
          <a:xfrm>
            <a:off x="1024128" y="1837944"/>
            <a:ext cx="548640" cy="5486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9" name="Image 1" descr="C:\Users\Nacho Andrade\Desktop\Maestria en Ingeniería de Software\Tercer semestre\Configuracion del software\Baseline_Presentation\icons\raspberryp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5" y="1903781"/>
            <a:ext cx="416966" cy="4169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828800" y="17830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Acquisition (IoT)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5212080" y="178308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5 nodes with environmental &amp; soil sensors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22960" y="2660904"/>
            <a:ext cx="10543032" cy="841248"/>
          </a:xfrm>
          <a:prstGeom prst="roundRect">
            <a:avLst>
              <a:gd name="adj" fmla="val 10870"/>
            </a:avLst>
          </a:prstGeom>
          <a:solidFill>
            <a:srgbClr val="2F5D45"/>
          </a:solidFill>
          <a:ln/>
        </p:spPr>
      </p:sp>
      <p:sp>
        <p:nvSpPr>
          <p:cNvPr id="13" name="Shape 9"/>
          <p:cNvSpPr/>
          <p:nvPr/>
        </p:nvSpPr>
        <p:spPr>
          <a:xfrm>
            <a:off x="1024128" y="2807208"/>
            <a:ext cx="548640" cy="5486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14" name="Image 2" descr="C:\Users\Nacho Andrade\Desktop\Maestria en Ingeniería de Software\Tercer semestre\Configuracion del software\Baseline_Presentation\icons\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965" y="2873045"/>
            <a:ext cx="416966" cy="41696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828800" y="275234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Business Logic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5212080" y="2752344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10 REST API with JWT authentication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22960" y="3630168"/>
            <a:ext cx="10543032" cy="841248"/>
          </a:xfrm>
          <a:prstGeom prst="roundRect">
            <a:avLst>
              <a:gd name="adj" fmla="val 10870"/>
            </a:avLst>
          </a:prstGeom>
          <a:solidFill>
            <a:srgbClr val="1B4332"/>
          </a:solidFill>
          <a:ln/>
        </p:spPr>
      </p:sp>
      <p:sp>
        <p:nvSpPr>
          <p:cNvPr id="18" name="Shape 13"/>
          <p:cNvSpPr/>
          <p:nvPr/>
        </p:nvSpPr>
        <p:spPr>
          <a:xfrm>
            <a:off x="1024128" y="3776472"/>
            <a:ext cx="548640" cy="5486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19" name="Image 3" descr="C:\Users\Nacho Andrade\Desktop\Maestria en Ingeniería de Software\Tercer semestre\Configuracion del software\Baseline_Presentation\icons\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965" y="3842309"/>
            <a:ext cx="416966" cy="41696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828800" y="372160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Data</a:t>
            </a:r>
            <a:endParaRPr lang="en-US" sz="1450" dirty="0"/>
          </a:p>
        </p:txBody>
      </p:sp>
      <p:sp>
        <p:nvSpPr>
          <p:cNvPr id="21" name="Text 15"/>
          <p:cNvSpPr txBox="1"/>
          <p:nvPr/>
        </p:nvSpPr>
        <p:spPr>
          <a:xfrm>
            <a:off x="5212080" y="372160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— relational storage of all system data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822960" y="4599432"/>
            <a:ext cx="10543032" cy="841248"/>
          </a:xfrm>
          <a:prstGeom prst="roundRect">
            <a:avLst>
              <a:gd name="adj" fmla="val 10870"/>
            </a:avLst>
          </a:prstGeom>
          <a:solidFill>
            <a:srgbClr val="2F5D45"/>
          </a:solidFill>
          <a:ln/>
        </p:spPr>
      </p:sp>
      <p:sp>
        <p:nvSpPr>
          <p:cNvPr id="23" name="Shape 17"/>
          <p:cNvSpPr/>
          <p:nvPr/>
        </p:nvSpPr>
        <p:spPr>
          <a:xfrm>
            <a:off x="1024128" y="4745736"/>
            <a:ext cx="548640" cy="5486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24" name="Image 4" descr="C:\Users\Nacho Andrade\Desktop\Maestria en Ingeniería de Software\Tercer semestre\Configuracion del software\Baseline_Presentation\icons\deskto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965" y="4811573"/>
            <a:ext cx="416966" cy="41696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828800" y="469087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Presentation (SPA)</a:t>
            </a:r>
            <a:endParaRPr lang="en-US" sz="1450" dirty="0"/>
          </a:p>
        </p:txBody>
      </p:sp>
      <p:sp>
        <p:nvSpPr>
          <p:cNvPr id="26" name="Text 19"/>
          <p:cNvSpPr txBox="1"/>
          <p:nvPr/>
        </p:nvSpPr>
        <p:spPr>
          <a:xfrm>
            <a:off x="5212080" y="4690872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— monitoring, stats, admin &amp; reports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822960" y="5568696"/>
            <a:ext cx="10543032" cy="841248"/>
          </a:xfrm>
          <a:prstGeom prst="roundRect">
            <a:avLst>
              <a:gd name="adj" fmla="val 10870"/>
            </a:avLst>
          </a:prstGeom>
          <a:solidFill>
            <a:srgbClr val="1B4332"/>
          </a:solidFill>
          <a:ln/>
        </p:spPr>
      </p:sp>
      <p:sp>
        <p:nvSpPr>
          <p:cNvPr id="28" name="Shape 21"/>
          <p:cNvSpPr/>
          <p:nvPr/>
        </p:nvSpPr>
        <p:spPr>
          <a:xfrm>
            <a:off x="1024128" y="5715000"/>
            <a:ext cx="548640" cy="5486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29" name="Image 5" descr="C:\Users\Nacho Andrade\Desktop\Maestria en Ingeniería de Software\Tercer semestre\Configuracion del software\Baseline_Presentation\icons\robo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9965" y="5780837"/>
            <a:ext cx="416966" cy="41696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828800" y="566013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Conversational AI</a:t>
            </a:r>
            <a:endParaRPr lang="en-US" sz="1450" dirty="0"/>
          </a:p>
        </p:txBody>
      </p:sp>
      <p:sp>
        <p:nvSpPr>
          <p:cNvPr id="31" name="Text 23"/>
          <p:cNvSpPr txBox="1"/>
          <p:nvPr/>
        </p:nvSpPr>
        <p:spPr>
          <a:xfrm>
            <a:off x="5212080" y="5660136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+ MCP server + Ollama (local LLM)</a:t>
            </a:r>
            <a:endParaRPr lang="en-US" sz="1250" dirty="0"/>
          </a:p>
        </p:txBody>
      </p:sp>
      <p:sp>
        <p:nvSpPr>
          <p:cNvPr id="32" name="Text 2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Project Baseline v1.0</a:t>
            </a:r>
            <a:endParaRPr lang="en-US" sz="900" dirty="0"/>
          </a:p>
        </p:txBody>
      </p:sp>
      <p:sp>
        <p:nvSpPr>
          <p:cNvPr id="33" name="Text 2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tion\icons\raspberry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36210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Sensor Network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777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provided &amp; installed by CUValles — replicable to other regions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22960" y="1874520"/>
            <a:ext cx="3310128" cy="4114800"/>
          </a:xfrm>
          <a:prstGeom prst="roundRect">
            <a:avLst>
              <a:gd name="adj" fmla="val 3867"/>
            </a:avLst>
          </a:prstGeom>
          <a:solidFill>
            <a:srgbClr val="F5F7F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020824" y="2240280"/>
            <a:ext cx="914400" cy="9144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9" name="Image 1" descr="C:\Users\Nacho Andrade\Desktop\Maestria en Ingeniería de Software\Tercer semestre\Configuracion del software\Baseline_Presentation\icons\wi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552" y="2350008"/>
            <a:ext cx="694944" cy="6949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05840" y="3383280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 &amp; Climate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4023360"/>
            <a:ext cx="26700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· Humidity · Pressure · CO₂ · Particulate matter · Rainfall · Wind speed &amp; direction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434840" y="1874520"/>
            <a:ext cx="3310128" cy="4114800"/>
          </a:xfrm>
          <a:prstGeom prst="roundRect">
            <a:avLst>
              <a:gd name="adj" fmla="val 3867"/>
            </a:avLst>
          </a:prstGeom>
          <a:solidFill>
            <a:srgbClr val="F5F7F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632704" y="2240280"/>
            <a:ext cx="914400" cy="9144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4" name="Image 2" descr="C:\Users\Nacho Andrade\Desktop\Maestria en Ingeniería de Software\Tercer semestre\Configuracion del software\Baseline_Presentation\icons\su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2350008"/>
            <a:ext cx="694944" cy="6949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617720" y="3383280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Radiation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4754880" y="4023360"/>
            <a:ext cx="26700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radiation · Light intensity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046720" y="1874520"/>
            <a:ext cx="3310128" cy="4114800"/>
          </a:xfrm>
          <a:prstGeom prst="roundRect">
            <a:avLst>
              <a:gd name="adj" fmla="val 3867"/>
            </a:avLst>
          </a:prstGeom>
          <a:solidFill>
            <a:srgbClr val="F5F7F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244584" y="2240280"/>
            <a:ext cx="914400" cy="9144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9" name="Image 3" descr="C:\Users\Nacho Andrade\Desktop\Maestria en Ingeniería de Software\Tercer semestre\Configuracion del software\Baseline_Presentation\icons\flas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4312" y="2350008"/>
            <a:ext cx="694944" cy="69494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229600" y="3383280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Soil (Edaphological)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8366760" y="4023360"/>
            <a:ext cx="26700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 (N) · Phosphorus (P) · Potassium (K)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Project Baseline v1.0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tion\icons\tool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36210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38404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783080"/>
            <a:ext cx="10543032" cy="777240"/>
          </a:xfrm>
          <a:prstGeom prst="roundRect">
            <a:avLst>
              <a:gd name="adj" fmla="val 11765"/>
            </a:avLst>
          </a:prstGeom>
          <a:solidFill>
            <a:srgbClr val="F5F7F5"/>
          </a:solidFill>
          <a:ln/>
        </p:spPr>
      </p:sp>
      <p:sp>
        <p:nvSpPr>
          <p:cNvPr id="7" name="Shape 4"/>
          <p:cNvSpPr/>
          <p:nvPr/>
        </p:nvSpPr>
        <p:spPr>
          <a:xfrm>
            <a:off x="1005840" y="1915668"/>
            <a:ext cx="512064" cy="512064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8" name="Image 1" descr="C:\Users\Nacho Andrade\Desktop\Maestria en Ingeniería de Software\Tercer semestre\Configuracion del software\Baseline_Presentation\icons\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288" y="1977116"/>
            <a:ext cx="389169" cy="38916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83080" y="1856232"/>
            <a:ext cx="2834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754880" y="1856232"/>
            <a:ext cx="6400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8.2 + Laravel 10, JWT auth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22960" y="2706624"/>
            <a:ext cx="10543032" cy="777240"/>
          </a:xfrm>
          <a:prstGeom prst="roundRect">
            <a:avLst>
              <a:gd name="adj" fmla="val 11765"/>
            </a:avLst>
          </a:prstGeom>
          <a:solidFill>
            <a:srgbClr val="EAF0EA"/>
          </a:solidFill>
          <a:ln/>
        </p:spPr>
      </p:sp>
      <p:sp>
        <p:nvSpPr>
          <p:cNvPr id="12" name="Shape 8"/>
          <p:cNvSpPr/>
          <p:nvPr/>
        </p:nvSpPr>
        <p:spPr>
          <a:xfrm>
            <a:off x="1005840" y="2839212"/>
            <a:ext cx="512064" cy="512064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3" name="Image 2" descr="C:\Users\Nacho Andrade\Desktop\Maestria en Ingeniería de Software\Tercer semestre\Configuracion del software\Baseline_Presentation\icons\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288" y="2900660"/>
            <a:ext cx="389169" cy="38916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783080" y="2779776"/>
            <a:ext cx="2834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4754880" y="2779776"/>
            <a:ext cx="6400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22960" y="3630168"/>
            <a:ext cx="10543032" cy="777240"/>
          </a:xfrm>
          <a:prstGeom prst="roundRect">
            <a:avLst>
              <a:gd name="adj" fmla="val 11765"/>
            </a:avLst>
          </a:prstGeom>
          <a:solidFill>
            <a:srgbClr val="F5F7F5"/>
          </a:solidFill>
          <a:ln/>
        </p:spPr>
      </p:sp>
      <p:sp>
        <p:nvSpPr>
          <p:cNvPr id="17" name="Shape 12"/>
          <p:cNvSpPr/>
          <p:nvPr/>
        </p:nvSpPr>
        <p:spPr>
          <a:xfrm>
            <a:off x="1005840" y="3762756"/>
            <a:ext cx="512064" cy="512064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8" name="Image 3" descr="C:\Users\Nacho Andrade\Desktop\Maestria en Ingeniería de Software\Tercer semestre\Configuracion del software\Baseline_Presentation\icons\deskt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288" y="3824204"/>
            <a:ext cx="389169" cy="38916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783080" y="3703320"/>
            <a:ext cx="2834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4754880" y="3703320"/>
            <a:ext cx="6400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Vite + Pinia + Tailwind CSS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822960" y="4553712"/>
            <a:ext cx="10543032" cy="777240"/>
          </a:xfrm>
          <a:prstGeom prst="roundRect">
            <a:avLst>
              <a:gd name="adj" fmla="val 11765"/>
            </a:avLst>
          </a:prstGeom>
          <a:solidFill>
            <a:srgbClr val="EAF0EA"/>
          </a:solidFill>
          <a:ln/>
        </p:spPr>
      </p:sp>
      <p:sp>
        <p:nvSpPr>
          <p:cNvPr id="22" name="Shape 16"/>
          <p:cNvSpPr/>
          <p:nvPr/>
        </p:nvSpPr>
        <p:spPr>
          <a:xfrm>
            <a:off x="1005840" y="4686300"/>
            <a:ext cx="512064" cy="512064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3" name="Image 4" descr="C:\Users\Nacho Andrade\Desktop\Maestria en Ingeniería de Software\Tercer semestre\Configuracion del software\Baseline_Presentation\icons\rob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8" y="4747748"/>
            <a:ext cx="389169" cy="389169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783080" y="4626864"/>
            <a:ext cx="2834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Chat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4754880" y="4626864"/>
            <a:ext cx="6400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orchestrator + MCP server + Ollama (local LLM)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822960" y="5477256"/>
            <a:ext cx="10543032" cy="777240"/>
          </a:xfrm>
          <a:prstGeom prst="roundRect">
            <a:avLst>
              <a:gd name="adj" fmla="val 11765"/>
            </a:avLst>
          </a:prstGeom>
          <a:solidFill>
            <a:srgbClr val="F5F7F5"/>
          </a:solidFill>
          <a:ln/>
        </p:spPr>
      </p:sp>
      <p:sp>
        <p:nvSpPr>
          <p:cNvPr id="27" name="Shape 20"/>
          <p:cNvSpPr/>
          <p:nvPr/>
        </p:nvSpPr>
        <p:spPr>
          <a:xfrm>
            <a:off x="1005840" y="5609844"/>
            <a:ext cx="512064" cy="512064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8" name="Image 5" descr="C:\Users\Nacho Andrade\Desktop\Maestria en Ingeniería de Software\Tercer semestre\Configuracion del software\Baseline_Presentation\icons\netwo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288" y="5671292"/>
            <a:ext cx="389169" cy="389169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783080" y="5550408"/>
            <a:ext cx="2834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4754880" y="5550408"/>
            <a:ext cx="6400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Docker Compose + Nginx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Project Baseline v1.0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3" name="Image 0" descr="C:\Users\Nacho Andrade\Desktop\Maestria en Ingeniería de Software\Tercer semestre\Configuracion del software\Baseline_Presentation\icons\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407822"/>
            <a:ext cx="555955" cy="55595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38404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EcoFlow — The Conversational Assistant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691640" y="2880360"/>
            <a:ext cx="8805672" cy="0"/>
          </a:xfrm>
          <a:prstGeom prst="line">
            <a:avLst/>
          </a:prstGeom>
          <a:noFill/>
          <a:ln w="25400">
            <a:solidFill>
              <a:srgbClr val="95D5B2"/>
            </a:solidFill>
            <a:prstDash val="dash"/>
          </a:ln>
        </p:spPr>
      </p:sp>
      <p:sp>
        <p:nvSpPr>
          <p:cNvPr id="6" name="Shape 3"/>
          <p:cNvSpPr/>
          <p:nvPr/>
        </p:nvSpPr>
        <p:spPr>
          <a:xfrm>
            <a:off x="1188720" y="2377440"/>
            <a:ext cx="1005840" cy="10058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7" name="Image 1" descr="C:\Users\Nacho Andrade\Desktop\Maestria en Ingeniería de Software\Tercer semestre\Configuracion del software\Baseline_Presentation\icons\com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421" y="2498141"/>
            <a:ext cx="764438" cy="7644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3520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3390138" y="2377440"/>
            <a:ext cx="1005840" cy="1005840"/>
          </a:xfrm>
          <a:prstGeom prst="ellipse">
            <a:avLst/>
          </a:prstGeom>
          <a:solidFill>
            <a:srgbClr val="2F5D45"/>
          </a:solidFill>
          <a:ln/>
        </p:spPr>
      </p:sp>
      <p:pic>
        <p:nvPicPr>
          <p:cNvPr id="10" name="Image 2" descr="C:\Users\Nacho Andrade\Desktop\Maestria en Ingeniería de Software\Tercer semestre\Configuracion del software\Baseline_Presentation\icons\netwo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839" y="2498141"/>
            <a:ext cx="764438" cy="76443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887218" y="3520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591556" y="2377440"/>
            <a:ext cx="1005840" cy="10058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13" name="Image 3" descr="C:\Users\Nacho Andrade\Desktop\Maestria en Ingeniería de Software\Tercer semestre\Configuracion del software\Baseline_Presentation\icons\ro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2257" y="2498141"/>
            <a:ext cx="764438" cy="76443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088636" y="3520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a tool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7792974" y="2377440"/>
            <a:ext cx="1005840" cy="1005840"/>
          </a:xfrm>
          <a:prstGeom prst="ellipse">
            <a:avLst/>
          </a:prstGeom>
          <a:solidFill>
            <a:srgbClr val="2F5D45"/>
          </a:solidFill>
          <a:ln/>
        </p:spPr>
      </p:sp>
      <p:pic>
        <p:nvPicPr>
          <p:cNvPr id="16" name="Image 4" descr="C:\Users\Nacho Andrade\Desktop\Maestria en Ingeniería de Software\Tercer semestre\Configuracion del software\Baseline_Presentation\icons\toolbox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3675" y="2498141"/>
            <a:ext cx="764438" cy="76443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290054" y="3520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data</a:t>
            </a:r>
            <a:endParaRPr lang="en-US" sz="1150" dirty="0"/>
          </a:p>
        </p:txBody>
      </p:sp>
      <p:sp>
        <p:nvSpPr>
          <p:cNvPr id="18" name="Shape 11"/>
          <p:cNvSpPr/>
          <p:nvPr/>
        </p:nvSpPr>
        <p:spPr>
          <a:xfrm>
            <a:off x="9994392" y="2377440"/>
            <a:ext cx="1005840" cy="10058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19" name="Image 5" descr="C:\Users\Nacho Andrade\Desktop\Maestria en Ingeniería de Software\Tercer semestre\Configuracion del software\Baseline_Presentation\icons\comment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5093" y="2498141"/>
            <a:ext cx="764438" cy="76443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9491472" y="3520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50" dirty="0"/>
          </a:p>
        </p:txBody>
      </p:sp>
      <p:sp>
        <p:nvSpPr>
          <p:cNvPr id="21" name="Shape 13"/>
          <p:cNvSpPr/>
          <p:nvPr/>
        </p:nvSpPr>
        <p:spPr>
          <a:xfrm>
            <a:off x="1280160" y="5212080"/>
            <a:ext cx="9628632" cy="822960"/>
          </a:xfrm>
          <a:prstGeom prst="roundRect">
            <a:avLst>
              <a:gd name="adj" fmla="val 11111"/>
            </a:avLst>
          </a:prstGeom>
          <a:solidFill>
            <a:srgbClr val="10281E"/>
          </a:solidFill>
          <a:ln/>
        </p:spPr>
      </p:sp>
      <p:sp>
        <p:nvSpPr>
          <p:cNvPr id="22" name="Text 14"/>
          <p:cNvSpPr txBox="1"/>
          <p:nvPr/>
        </p:nvSpPr>
        <p:spPr>
          <a:xfrm>
            <a:off x="1554480" y="5212080"/>
            <a:ext cx="9079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never touches the database directly — every query goes through read-only MCP tools.</a:t>
            </a:r>
            <a:endParaRPr lang="en-US" sz="1250" dirty="0"/>
          </a:p>
        </p:txBody>
      </p:sp>
      <p:sp>
        <p:nvSpPr>
          <p:cNvPr id="23" name="Text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Project Baseline v1.0</a:t>
            </a:r>
            <a:endParaRPr lang="en-US" sz="900" dirty="0"/>
          </a:p>
        </p:txBody>
      </p:sp>
      <p:sp>
        <p:nvSpPr>
          <p:cNvPr id="24" name="Text 1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tion\icons\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36210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Backlog — Sample User Stories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777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user stories · 66 story points total — full backlog in the Baseline document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22960" y="1783080"/>
            <a:ext cx="10543032" cy="841248"/>
          </a:xfrm>
          <a:prstGeom prst="roundRect">
            <a:avLst>
              <a:gd name="adj" fmla="val 8696"/>
            </a:avLst>
          </a:prstGeom>
          <a:solidFill>
            <a:srgbClr val="F5F7F5"/>
          </a:solidFill>
          <a:ln/>
        </p:spPr>
      </p:sp>
      <p:sp>
        <p:nvSpPr>
          <p:cNvPr id="8" name="Shape 5"/>
          <p:cNvSpPr/>
          <p:nvPr/>
        </p:nvSpPr>
        <p:spPr>
          <a:xfrm>
            <a:off x="960120" y="1984248"/>
            <a:ext cx="777240" cy="438912"/>
          </a:xfrm>
          <a:prstGeom prst="roundRect">
            <a:avLst>
              <a:gd name="adj" fmla="val 12500"/>
            </a:avLst>
          </a:prstGeom>
          <a:solidFill>
            <a:srgbClr val="1B43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60120" y="198424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US-01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920240" y="1856232"/>
            <a:ext cx="7818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user, I want to log in with my credentials, so that I can access the features for my role.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921240" y="1965960"/>
            <a:ext cx="475488" cy="475488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921240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22960" y="2715768"/>
            <a:ext cx="10543032" cy="841248"/>
          </a:xfrm>
          <a:prstGeom prst="roundRect">
            <a:avLst>
              <a:gd name="adj" fmla="val 8696"/>
            </a:avLst>
          </a:prstGeom>
          <a:solidFill>
            <a:srgbClr val="EAF0EA"/>
          </a:solidFill>
          <a:ln/>
        </p:spPr>
      </p:sp>
      <p:sp>
        <p:nvSpPr>
          <p:cNvPr id="14" name="Shape 11"/>
          <p:cNvSpPr/>
          <p:nvPr/>
        </p:nvSpPr>
        <p:spPr>
          <a:xfrm>
            <a:off x="960120" y="2916936"/>
            <a:ext cx="777240" cy="438912"/>
          </a:xfrm>
          <a:prstGeom prst="roundRect">
            <a:avLst>
              <a:gd name="adj" fmla="val 12500"/>
            </a:avLst>
          </a:prstGeom>
          <a:solidFill>
            <a:srgbClr val="1B433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60120" y="291693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US-06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920240" y="2788920"/>
            <a:ext cx="7818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 administrator, I want to register sensors with classification thresholds, so that readings are flagged automatically.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921240" y="2898648"/>
            <a:ext cx="475488" cy="475488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921240" y="2898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22960" y="3648456"/>
            <a:ext cx="10543032" cy="841248"/>
          </a:xfrm>
          <a:prstGeom prst="roundRect">
            <a:avLst>
              <a:gd name="adj" fmla="val 8696"/>
            </a:avLst>
          </a:prstGeom>
          <a:solidFill>
            <a:srgbClr val="F5F7F5"/>
          </a:solidFill>
          <a:ln/>
        </p:spPr>
      </p:sp>
      <p:sp>
        <p:nvSpPr>
          <p:cNvPr id="20" name="Shape 17"/>
          <p:cNvSpPr/>
          <p:nvPr/>
        </p:nvSpPr>
        <p:spPr>
          <a:xfrm>
            <a:off x="960120" y="3849624"/>
            <a:ext cx="777240" cy="438912"/>
          </a:xfrm>
          <a:prstGeom prst="roundRect">
            <a:avLst>
              <a:gd name="adj" fmla="val 12500"/>
            </a:avLst>
          </a:prstGeom>
          <a:solidFill>
            <a:srgbClr val="1B433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60120" y="384962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US-09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920240" y="3721608"/>
            <a:ext cx="7818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user, I want to see the latest reading per station in real time, so that I can monitor current conditions.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9921240" y="3831336"/>
            <a:ext cx="475488" cy="475488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921240" y="3831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22960" y="4581144"/>
            <a:ext cx="10543032" cy="841248"/>
          </a:xfrm>
          <a:prstGeom prst="roundRect">
            <a:avLst>
              <a:gd name="adj" fmla="val 8696"/>
            </a:avLst>
          </a:prstGeom>
          <a:solidFill>
            <a:srgbClr val="EAF0EA"/>
          </a:solidFill>
          <a:ln/>
        </p:spPr>
      </p:sp>
      <p:sp>
        <p:nvSpPr>
          <p:cNvPr id="26" name="Shape 23"/>
          <p:cNvSpPr/>
          <p:nvPr/>
        </p:nvSpPr>
        <p:spPr>
          <a:xfrm>
            <a:off x="960120" y="4782312"/>
            <a:ext cx="777240" cy="438912"/>
          </a:xfrm>
          <a:prstGeom prst="roundRect">
            <a:avLst>
              <a:gd name="adj" fmla="val 12500"/>
            </a:avLst>
          </a:prstGeom>
          <a:solidFill>
            <a:srgbClr val="1B433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960120" y="478231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US-12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1920240" y="4654296"/>
            <a:ext cx="7818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user, I want to chat with EcoFlow in natural language, so that I can understand environmental data without technical knowledge.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9921240" y="4764024"/>
            <a:ext cx="475488" cy="475488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921240" y="4764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822960" y="5513832"/>
            <a:ext cx="10543032" cy="841248"/>
          </a:xfrm>
          <a:prstGeom prst="roundRect">
            <a:avLst>
              <a:gd name="adj" fmla="val 8696"/>
            </a:avLst>
          </a:prstGeom>
          <a:solidFill>
            <a:srgbClr val="F5F7F5"/>
          </a:solidFill>
          <a:ln/>
        </p:spPr>
      </p:sp>
      <p:sp>
        <p:nvSpPr>
          <p:cNvPr id="32" name="Shape 29"/>
          <p:cNvSpPr/>
          <p:nvPr/>
        </p:nvSpPr>
        <p:spPr>
          <a:xfrm>
            <a:off x="960120" y="5715000"/>
            <a:ext cx="777240" cy="438912"/>
          </a:xfrm>
          <a:prstGeom prst="roundRect">
            <a:avLst>
              <a:gd name="adj" fmla="val 12500"/>
            </a:avLst>
          </a:prstGeom>
          <a:solidFill>
            <a:srgbClr val="1B433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960120" y="571500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US-13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1920240" y="5586984"/>
            <a:ext cx="7818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system, I want EcoFlow to query data only through read-only MCP tools, so that the LLM never touches the database directly.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9921240" y="5696712"/>
            <a:ext cx="475488" cy="475488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9921240" y="5696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Project Baseline v1.0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tion\icons\usert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36210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777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defined for this course exercise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22960" y="1920240"/>
            <a:ext cx="1620012" cy="3931920"/>
          </a:xfrm>
          <a:prstGeom prst="roundRect">
            <a:avLst>
              <a:gd name="adj" fmla="val 6773"/>
            </a:avLst>
          </a:prstGeom>
          <a:solidFill>
            <a:srgbClr val="F5F7F5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267206" y="2212848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9" name="Image 1" descr="C:\Users\Nacho Andrade\Desktop\Maestria en Ingeniería de Software\Tercer semestre\Configuracion del software\Baseline_Presentation\icons\usert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988" y="2300630"/>
            <a:ext cx="555955" cy="55595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6112" y="3127248"/>
            <a:ext cx="1473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Ignacio Andrade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932688" y="4023360"/>
            <a:ext cx="14005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/ SCM Lead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607564" y="1920240"/>
            <a:ext cx="1620012" cy="3931920"/>
          </a:xfrm>
          <a:prstGeom prst="roundRect">
            <a:avLst>
              <a:gd name="adj" fmla="val 6773"/>
            </a:avLst>
          </a:prstGeom>
          <a:solidFill>
            <a:srgbClr val="F5F7F5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051810" y="2212848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4" name="Image 2" descr="C:\Users\Nacho Andrade\Desktop\Maestria en Ingeniería de Software\Tercer semestre\Configuracion del software\Baseline_Presentation\icons\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9592" y="2300630"/>
            <a:ext cx="555955" cy="55595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680716" y="3127248"/>
            <a:ext cx="1473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Developer</a:t>
            </a:r>
            <a:endParaRPr lang="en-US" sz="1150" dirty="0"/>
          </a:p>
        </p:txBody>
      </p:sp>
      <p:sp>
        <p:nvSpPr>
          <p:cNvPr id="16" name="Text 11"/>
          <p:cNvSpPr txBox="1"/>
          <p:nvPr/>
        </p:nvSpPr>
        <p:spPr>
          <a:xfrm>
            <a:off x="2717292" y="4023360"/>
            <a:ext cx="14005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· Fullstack (Laravel/Vue)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392168" y="1920240"/>
            <a:ext cx="1620012" cy="3931920"/>
          </a:xfrm>
          <a:prstGeom prst="roundRect">
            <a:avLst>
              <a:gd name="adj" fmla="val 6773"/>
            </a:avLst>
          </a:prstGeom>
          <a:solidFill>
            <a:srgbClr val="F5F7F5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836414" y="2212848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9" name="Image 3" descr="C:\Users\Nacho Andrade\Desktop\Maestria en Ingeniería de Software\Tercer semestre\Configuracion del software\Baseline_Presentation\icons\laptop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4196" y="2300630"/>
            <a:ext cx="555955" cy="55595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465320" y="3127248"/>
            <a:ext cx="1473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Developer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4501896" y="4023360"/>
            <a:ext cx="14005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· Vue 3 SPA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6176772" y="1920240"/>
            <a:ext cx="1620012" cy="3931920"/>
          </a:xfrm>
          <a:prstGeom prst="roundRect">
            <a:avLst>
              <a:gd name="adj" fmla="val 6773"/>
            </a:avLst>
          </a:prstGeom>
          <a:solidFill>
            <a:srgbClr val="F5F7F5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621018" y="2212848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4" name="Image 4" descr="C:\Users\Nacho Andrade\Desktop\Maestria en Ingeniería de Software\Tercer semestre\Configuracion del software\Baseline_Presentation\icons\paintbru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8800" y="2300630"/>
            <a:ext cx="555955" cy="55595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249924" y="3127248"/>
            <a:ext cx="1473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/ UX Designer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6286500" y="4023360"/>
            <a:ext cx="14005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Mid-level · UX/UI design system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7961376" y="1920240"/>
            <a:ext cx="1620012" cy="3931920"/>
          </a:xfrm>
          <a:prstGeom prst="roundRect">
            <a:avLst>
              <a:gd name="adj" fmla="val 6773"/>
            </a:avLst>
          </a:prstGeom>
          <a:solidFill>
            <a:srgbClr val="F5F7F5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8405622" y="2212848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9" name="Image 5" descr="C:\Users\Nacho Andrade\Desktop\Maestria en Ingeniería de Software\Tercer semestre\Configuracion del software\Baseline_Presentation\icons\bra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3404" y="2300630"/>
            <a:ext cx="555955" cy="555955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8034528" y="3127248"/>
            <a:ext cx="1473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Automation Engineer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8071104" y="4023360"/>
            <a:ext cx="14005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· n8n, MCP, Ollama, RAG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9745980" y="1920240"/>
            <a:ext cx="1620012" cy="3931920"/>
          </a:xfrm>
          <a:prstGeom prst="roundRect">
            <a:avLst>
              <a:gd name="adj" fmla="val 6773"/>
            </a:avLst>
          </a:prstGeom>
          <a:solidFill>
            <a:srgbClr val="F5F7F5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10190226" y="2212848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34" name="Image 6" descr="C:\Users\Nacho Andrade\Desktop\Maestria en Ingeniería de Software\Tercer semestre\Configuracion del software\Baseline_Presentation\icons\toolbox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78008" y="2300630"/>
            <a:ext cx="555955" cy="555955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9819132" y="3127248"/>
            <a:ext cx="1473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 / QA</a:t>
            </a:r>
            <a:endParaRPr lang="en-US" sz="1150" dirty="0"/>
          </a:p>
        </p:txBody>
      </p:sp>
      <p:sp>
        <p:nvSpPr>
          <p:cNvPr id="36" name="Text 27"/>
          <p:cNvSpPr txBox="1"/>
          <p:nvPr/>
        </p:nvSpPr>
        <p:spPr>
          <a:xfrm>
            <a:off x="9855708" y="4023360"/>
            <a:ext cx="14005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· Docker, tests, audits</a:t>
            </a:r>
            <a:endParaRPr lang="en-US" sz="1000" dirty="0"/>
          </a:p>
        </p:txBody>
      </p:sp>
      <p:sp>
        <p:nvSpPr>
          <p:cNvPr id="37" name="Text 2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Project Baseline v1.0</a:t>
            </a:r>
            <a:endParaRPr lang="en-US" sz="900" dirty="0"/>
          </a:p>
        </p:txBody>
      </p:sp>
      <p:sp>
        <p:nvSpPr>
          <p:cNvPr id="38" name="Text 2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tion\icons\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36210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777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Scrum: 26 two-week sprints over 12 months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1525089" y="2468880"/>
            <a:ext cx="9138775" cy="0"/>
          </a:xfrm>
          <a:prstGeom prst="line">
            <a:avLst/>
          </a:prstGeom>
          <a:noFill/>
          <a:ln w="25400">
            <a:solidFill>
              <a:srgbClr val="CBD9C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59913" y="2103120"/>
            <a:ext cx="530352" cy="530352"/>
          </a:xfrm>
          <a:prstGeom prst="ellipse">
            <a:avLst/>
          </a:prstGeom>
          <a:solidFill>
            <a:srgbClr val="7F553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59913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2960" y="2907792"/>
            <a:ext cx="1404257" cy="2761488"/>
          </a:xfrm>
          <a:prstGeom prst="roundRect">
            <a:avLst>
              <a:gd name="adj" fmla="val 6512"/>
            </a:avLst>
          </a:prstGeom>
          <a:solidFill>
            <a:srgbClr val="F3EBE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77824" y="3017520"/>
            <a:ext cx="129452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877824" y="4892040"/>
            <a:ext cx="12945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1–2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(Weeks 1–4)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783042" y="2103120"/>
            <a:ext cx="530352" cy="53035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783042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2346089" y="2907792"/>
            <a:ext cx="1404257" cy="2761488"/>
          </a:xfrm>
          <a:prstGeom prst="roundRect">
            <a:avLst>
              <a:gd name="adj" fmla="val 6512"/>
            </a:avLst>
          </a:prstGeom>
          <a:solidFill>
            <a:srgbClr val="F5F7F5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400953" y="3017520"/>
            <a:ext cx="129452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 Plan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 ID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2400953" y="4892040"/>
            <a:ext cx="12945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3–4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(Weeks 5–8)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306171" y="2103120"/>
            <a:ext cx="530352" cy="53035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306171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3869218" y="2907792"/>
            <a:ext cx="1404257" cy="2761488"/>
          </a:xfrm>
          <a:prstGeom prst="roundRect">
            <a:avLst>
              <a:gd name="adj" fmla="val 6512"/>
            </a:avLst>
          </a:prstGeom>
          <a:solidFill>
            <a:srgbClr val="F5F7F5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924082" y="3017520"/>
            <a:ext cx="129452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UX/UI Design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3924082" y="4892040"/>
            <a:ext cx="12945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5–8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(Weeks 9–16)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829300" y="2103120"/>
            <a:ext cx="530352" cy="53035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82930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5392347" y="2907792"/>
            <a:ext cx="1404257" cy="2761488"/>
          </a:xfrm>
          <a:prstGeom prst="roundRect">
            <a:avLst>
              <a:gd name="adj" fmla="val 6512"/>
            </a:avLst>
          </a:prstGeom>
          <a:solidFill>
            <a:srgbClr val="F5F7F5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447211" y="3017520"/>
            <a:ext cx="129452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5447211" y="4892040"/>
            <a:ext cx="12945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9–17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(Weeks 17–34)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7352429" y="2103120"/>
            <a:ext cx="530352" cy="53035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352429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6915477" y="2907792"/>
            <a:ext cx="1404257" cy="2761488"/>
          </a:xfrm>
          <a:prstGeom prst="roundRect">
            <a:avLst>
              <a:gd name="adj" fmla="val 6512"/>
            </a:avLst>
          </a:prstGeom>
          <a:solidFill>
            <a:srgbClr val="F5F7F5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970341" y="3017520"/>
            <a:ext cx="129452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 Audit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6970341" y="4892040"/>
            <a:ext cx="12945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18–21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(Weeks 35–42)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8875558" y="2103120"/>
            <a:ext cx="530352" cy="530352"/>
          </a:xfrm>
          <a:prstGeom prst="ellipse">
            <a:avLst/>
          </a:prstGeom>
          <a:solidFill>
            <a:srgbClr val="95D5B2"/>
          </a:solidFill>
          <a:ln/>
        </p:spPr>
      </p:sp>
      <p:pic>
        <p:nvPicPr>
          <p:cNvPr id="34" name="Image 1" descr="C:\Users\Nacho Andrade\Desktop\Maestria en Ingeniería de Software\Tercer semestre\Configuracion del software\Baseline_Presentation\icons\hourgl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5286" y="2212848"/>
            <a:ext cx="310896" cy="310896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8438606" y="2907792"/>
            <a:ext cx="1404257" cy="2761488"/>
          </a:xfrm>
          <a:prstGeom prst="roundRect">
            <a:avLst>
              <a:gd name="adj" fmla="val 6512"/>
            </a:avLst>
          </a:prstGeom>
          <a:solidFill>
            <a:srgbClr val="FBF6E9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8493470" y="3017520"/>
            <a:ext cx="129452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/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</a:t>
            </a:r>
            <a:endParaRPr lang="en-US" sz="950" dirty="0"/>
          </a:p>
        </p:txBody>
      </p:sp>
      <p:sp>
        <p:nvSpPr>
          <p:cNvPr id="37" name="Text 33"/>
          <p:cNvSpPr txBox="1"/>
          <p:nvPr/>
        </p:nvSpPr>
        <p:spPr>
          <a:xfrm>
            <a:off x="8493470" y="4892040"/>
            <a:ext cx="12945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22–25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(Weeks 43–50)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10398687" y="2103120"/>
            <a:ext cx="530352" cy="53035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10398687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40" name="Shape 36"/>
          <p:cNvSpPr/>
          <p:nvPr/>
        </p:nvSpPr>
        <p:spPr>
          <a:xfrm>
            <a:off x="9961735" y="2907792"/>
            <a:ext cx="1404257" cy="2761488"/>
          </a:xfrm>
          <a:prstGeom prst="roundRect">
            <a:avLst>
              <a:gd name="adj" fmla="val 6512"/>
            </a:avLst>
          </a:prstGeom>
          <a:solidFill>
            <a:srgbClr val="F5F7F5"/>
          </a:solidFill>
          <a:ln/>
        </p:spPr>
      </p:sp>
      <p:sp>
        <p:nvSpPr>
          <p:cNvPr id="41" name="Text 37"/>
          <p:cNvSpPr txBox="1"/>
          <p:nvPr/>
        </p:nvSpPr>
        <p:spPr>
          <a:xfrm>
            <a:off x="10016599" y="3017520"/>
            <a:ext cx="129452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Release</a:t>
            </a:r>
            <a:endParaRPr lang="en-US" sz="950" dirty="0"/>
          </a:p>
        </p:txBody>
      </p:sp>
      <p:sp>
        <p:nvSpPr>
          <p:cNvPr id="42" name="Text 38"/>
          <p:cNvSpPr txBox="1"/>
          <p:nvPr/>
        </p:nvSpPr>
        <p:spPr>
          <a:xfrm>
            <a:off x="10016599" y="4892040"/>
            <a:ext cx="12945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26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(Weeks 51–52)</a:t>
            </a:r>
            <a:endParaRPr lang="en-US" sz="850" dirty="0"/>
          </a:p>
        </p:txBody>
      </p:sp>
      <p:sp>
        <p:nvSpPr>
          <p:cNvPr id="43" name="Text 3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Project Baseline v1.0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tion\icons\moneybi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36210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Infrastructure Costs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777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using average Mexican market rates, 2026 (MXN) — everything costed, nothing free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22960" y="1600200"/>
            <a:ext cx="10543032" cy="365760"/>
          </a:xfrm>
          <a:prstGeom prst="rect">
            <a:avLst/>
          </a:prstGeom>
          <a:solidFill>
            <a:srgbClr val="F5F7F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51560" y="16002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(part-time)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 / mo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22960" y="1965960"/>
            <a:ext cx="1054303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51560" y="19659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 — Senior, Fullstack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85039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$28,000 / mo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22960" y="2331720"/>
            <a:ext cx="10543032" cy="365760"/>
          </a:xfrm>
          <a:prstGeom prst="rect">
            <a:avLst/>
          </a:prstGeom>
          <a:solidFill>
            <a:srgbClr val="F5F7F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51560" y="23317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 — Junior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850392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$14,000 / mo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22960" y="2697480"/>
            <a:ext cx="1054303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51560" y="26974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 Designer — Mid, part-time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850392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$12,000 / mo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22960" y="3063240"/>
            <a:ext cx="10543032" cy="365760"/>
          </a:xfrm>
          <a:prstGeom prst="rect">
            <a:avLst/>
          </a:prstGeom>
          <a:solidFill>
            <a:srgbClr val="F5F7F5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51560" y="30632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Automation Engineer — Senior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850392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$30,000 / mo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22960" y="3429000"/>
            <a:ext cx="1054303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051560" y="34290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QA — Junior, part-time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850392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$8,000 / mo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22960" y="3794760"/>
            <a:ext cx="10543032" cy="365760"/>
          </a:xfrm>
          <a:prstGeom prst="rect">
            <a:avLst/>
          </a:prstGeom>
          <a:solidFill>
            <a:srgbClr val="F5F7F5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051560" y="37947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hosting (Docker + GPU-ready VPS)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850392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 / mo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822960" y="4160520"/>
            <a:ext cx="1054303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1560" y="41605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for local LLM inference (Ollama)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850392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$25,000 one-time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822960" y="4526280"/>
            <a:ext cx="10543032" cy="365760"/>
          </a:xfrm>
          <a:prstGeom prst="rect">
            <a:avLst/>
          </a:prstGeom>
          <a:solidFill>
            <a:srgbClr val="F5F7F5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5156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&amp; SSL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8503920" y="4526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 / yr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822960" y="5120640"/>
            <a:ext cx="10543032" cy="594360"/>
          </a:xfrm>
          <a:prstGeom prst="roundRect">
            <a:avLst>
              <a:gd name="adj" fmla="val 15385"/>
            </a:avLst>
          </a:prstGeom>
          <a:solidFill>
            <a:srgbClr val="7F5539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1051560" y="51206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project cost (12 months)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7589520" y="51206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$1,285,500 MXN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Project Baseline v1.0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tion\icons\per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36210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 Margin &amp; Total Budget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777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15% margin is applied to both cost and schedule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22960" y="1965960"/>
            <a:ext cx="3310128" cy="2377440"/>
          </a:xfrm>
          <a:prstGeom prst="roundRect">
            <a:avLst>
              <a:gd name="adj" fmla="val 5385"/>
            </a:avLst>
          </a:prstGeom>
          <a:solidFill>
            <a:srgbClr val="F5F7F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1005840" y="2240280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F5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PROJECT COST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880360"/>
            <a:ext cx="3127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$1,285,500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4434840" y="1965960"/>
            <a:ext cx="3310128" cy="2377440"/>
          </a:xfrm>
          <a:prstGeom prst="roundRect">
            <a:avLst>
              <a:gd name="adj" fmla="val 5385"/>
            </a:avLst>
          </a:prstGeom>
          <a:solidFill>
            <a:srgbClr val="F5F7F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617720" y="2240280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F5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(15%)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2880360"/>
            <a:ext cx="3127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$192,825</a:t>
            </a:r>
            <a:endParaRPr lang="en-US" sz="2700" dirty="0"/>
          </a:p>
        </p:txBody>
      </p:sp>
      <p:sp>
        <p:nvSpPr>
          <p:cNvPr id="13" name="Shape 10"/>
          <p:cNvSpPr/>
          <p:nvPr/>
        </p:nvSpPr>
        <p:spPr>
          <a:xfrm>
            <a:off x="8046720" y="1965960"/>
            <a:ext cx="3310128" cy="2377440"/>
          </a:xfrm>
          <a:prstGeom prst="roundRect">
            <a:avLst>
              <a:gd name="adj" fmla="val 5385"/>
            </a:avLst>
          </a:prstGeom>
          <a:solidFill>
            <a:srgbClr val="1B433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229600" y="2240280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PROJECT BUDGET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8138160" y="2880360"/>
            <a:ext cx="3127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$1,478,325</a:t>
            </a:r>
            <a:endParaRPr lang="en-US" sz="2700" dirty="0"/>
          </a:p>
        </p:txBody>
      </p:sp>
      <p:sp>
        <p:nvSpPr>
          <p:cNvPr id="16" name="Shape 13"/>
          <p:cNvSpPr/>
          <p:nvPr/>
        </p:nvSpPr>
        <p:spPr>
          <a:xfrm>
            <a:off x="822960" y="4617720"/>
            <a:ext cx="10543032" cy="1005840"/>
          </a:xfrm>
          <a:prstGeom prst="roundRect">
            <a:avLst>
              <a:gd name="adj" fmla="val 9091"/>
            </a:avLst>
          </a:prstGeom>
          <a:solidFill>
            <a:srgbClr val="F3EBE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143000" y="4617720"/>
            <a:ext cx="9902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7F5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contingency: 4 of 26 sprints (≈15%) are explicitly reserved as buffer (Sprints 22–25) — the same margin applied to cost is applied to time.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Project Baseline v1.0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645920"/>
            <a:ext cx="4572000" cy="4572000"/>
          </a:xfrm>
          <a:prstGeom prst="ellipse">
            <a:avLst/>
          </a:prstGeom>
          <a:solidFill>
            <a:srgbClr val="10281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10281E"/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1828800"/>
            <a:ext cx="1005840" cy="1005840"/>
          </a:xfrm>
          <a:prstGeom prst="ellipse">
            <a:avLst/>
          </a:prstGeom>
          <a:solidFill>
            <a:srgbClr val="95D5B2"/>
          </a:solidFill>
          <a:ln/>
        </p:spPr>
      </p:sp>
      <p:pic>
        <p:nvPicPr>
          <p:cNvPr id="5" name="Image 0" descr="C:\Users\Nacho Andrade\Desktop\Maestria en Ingeniería de Software\Tercer semestre\Configuracion del software\Baseline_Presentation\icons\le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3628" y="1949501"/>
            <a:ext cx="764438" cy="7644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30632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9319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milestone: SCM Plan &amp; Configuration Identification — Sprints 3–4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3949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Ignacio Andrade Salazar   ·   ignacio.andrade2285@alumnos.udg.mx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2026-09-03T17:20:14Z</dcterms:created>
  <dcterms:modified xsi:type="dcterms:W3CDTF">2026-09-03T17:20:14Z</dcterms:modified>
</cp:coreProperties>
</file>